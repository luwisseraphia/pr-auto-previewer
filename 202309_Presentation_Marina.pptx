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147478202" r:id="rId5"/>
    <p:sldId id="2147478203" r:id="rId6"/>
    <p:sldId id="295" r:id="rId7"/>
    <p:sldId id="2147478214" r:id="rId8"/>
    <p:sldId id="2147478213" r:id="rId9"/>
    <p:sldId id="2147478204" r:id="rId10"/>
    <p:sldId id="2147478215" r:id="rId11"/>
    <p:sldId id="2147478205" r:id="rId12"/>
    <p:sldId id="2147478216" r:id="rId13"/>
    <p:sldId id="2147478217" r:id="rId14"/>
    <p:sldId id="2147478219" r:id="rId15"/>
    <p:sldId id="2147478211" r:id="rId16"/>
    <p:sldId id="2147478212" r:id="rId17"/>
    <p:sldId id="2147478218" r:id="rId18"/>
    <p:sldId id="2147478208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F350C-404C-BF49-9CF5-3F59246025B5}" v="1837" dt="2026-02-06T02:12:19.773"/>
    <p1510:client id="{6511B1BD-7909-2F29-80C3-442D53F34489}" v="16" dt="2026-02-05T09:39:23.198"/>
    <p1510:client id="{A89E2028-164E-4BA1-8DEA-8FD876DA3C36}" v="22" dt="2026-02-05T09:36:08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2"/>
    <p:restoredTop sz="56612"/>
  </p:normalViewPr>
  <p:slideViewPr>
    <p:cSldViewPr snapToGrid="0">
      <p:cViewPr varScale="1">
        <p:scale>
          <a:sx n="63" d="100"/>
          <a:sy n="63" d="100"/>
        </p:scale>
        <p:origin x="2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na Huang" userId="7ae836ea-9a4e-4e99-aaf0-474cac1e8476" providerId="ADAL" clId="{A36108A9-8AAF-5128-BB58-B4C6860579FC}"/>
    <pc:docChg chg="custSel modSld">
      <pc:chgData name="Marina Huang" userId="7ae836ea-9a4e-4e99-aaf0-474cac1e8476" providerId="ADAL" clId="{A36108A9-8AAF-5128-BB58-B4C6860579FC}" dt="2026-02-06T02:14:25.590" v="5583" actId="20577"/>
      <pc:docMkLst>
        <pc:docMk/>
      </pc:docMkLst>
      <pc:sldChg chg="modNotesTx">
        <pc:chgData name="Marina Huang" userId="7ae836ea-9a4e-4e99-aaf0-474cac1e8476" providerId="ADAL" clId="{A36108A9-8AAF-5128-BB58-B4C6860579FC}" dt="2026-02-05T09:57:44.341" v="1232" actId="20577"/>
        <pc:sldMkLst>
          <pc:docMk/>
          <pc:sldMk cId="2124774883" sldId="295"/>
        </pc:sldMkLst>
      </pc:sldChg>
      <pc:sldChg chg="modNotesTx">
        <pc:chgData name="Marina Huang" userId="7ae836ea-9a4e-4e99-aaf0-474cac1e8476" providerId="ADAL" clId="{A36108A9-8AAF-5128-BB58-B4C6860579FC}" dt="2026-02-06T02:09:20.676" v="5338" actId="20577"/>
        <pc:sldMkLst>
          <pc:docMk/>
          <pc:sldMk cId="4022903958" sldId="2147478202"/>
        </pc:sldMkLst>
      </pc:sldChg>
      <pc:sldChg chg="modNotesTx">
        <pc:chgData name="Marina Huang" userId="7ae836ea-9a4e-4e99-aaf0-474cac1e8476" providerId="ADAL" clId="{A36108A9-8AAF-5128-BB58-B4C6860579FC}" dt="2026-02-06T02:12:21.940" v="5486" actId="20577"/>
        <pc:sldMkLst>
          <pc:docMk/>
          <pc:sldMk cId="371071323" sldId="2147478204"/>
        </pc:sldMkLst>
      </pc:sldChg>
      <pc:sldChg chg="modNotesTx">
        <pc:chgData name="Marina Huang" userId="7ae836ea-9a4e-4e99-aaf0-474cac1e8476" providerId="ADAL" clId="{A36108A9-8AAF-5128-BB58-B4C6860579FC}" dt="2026-02-06T02:14:25.590" v="5583" actId="20577"/>
        <pc:sldMkLst>
          <pc:docMk/>
          <pc:sldMk cId="2770762085" sldId="2147478205"/>
        </pc:sldMkLst>
      </pc:sldChg>
      <pc:sldChg chg="modNotesTx">
        <pc:chgData name="Marina Huang" userId="7ae836ea-9a4e-4e99-aaf0-474cac1e8476" providerId="ADAL" clId="{A36108A9-8AAF-5128-BB58-B4C6860579FC}" dt="2026-02-06T01:46:58.475" v="3186" actId="20577"/>
        <pc:sldMkLst>
          <pc:docMk/>
          <pc:sldMk cId="3017040714" sldId="2147478211"/>
        </pc:sldMkLst>
      </pc:sldChg>
      <pc:sldChg chg="modNotesTx">
        <pc:chgData name="Marina Huang" userId="7ae836ea-9a4e-4e99-aaf0-474cac1e8476" providerId="ADAL" clId="{A36108A9-8AAF-5128-BB58-B4C6860579FC}" dt="2026-02-06T02:10:37.742" v="5372" actId="20577"/>
        <pc:sldMkLst>
          <pc:docMk/>
          <pc:sldMk cId="2513484916" sldId="2147478213"/>
        </pc:sldMkLst>
      </pc:sldChg>
      <pc:sldChg chg="modNotesTx">
        <pc:chgData name="Marina Huang" userId="7ae836ea-9a4e-4e99-aaf0-474cac1e8476" providerId="ADAL" clId="{A36108A9-8AAF-5128-BB58-B4C6860579FC}" dt="2026-02-05T09:54:43.824" v="1167" actId="20577"/>
        <pc:sldMkLst>
          <pc:docMk/>
          <pc:sldMk cId="1564837417" sldId="2147478214"/>
        </pc:sldMkLst>
      </pc:sldChg>
      <pc:sldChg chg="modSp modNotesTx">
        <pc:chgData name="Marina Huang" userId="7ae836ea-9a4e-4e99-aaf0-474cac1e8476" providerId="ADAL" clId="{A36108A9-8AAF-5128-BB58-B4C6860579FC}" dt="2026-02-06T02:13:07.191" v="5569" actId="20577"/>
        <pc:sldMkLst>
          <pc:docMk/>
          <pc:sldMk cId="3694234696" sldId="2147478215"/>
        </pc:sldMkLst>
        <pc:picChg chg="mod">
          <ac:chgData name="Marina Huang" userId="7ae836ea-9a4e-4e99-aaf0-474cac1e8476" providerId="ADAL" clId="{A36108A9-8AAF-5128-BB58-B4C6860579FC}" dt="2026-02-05T10:08:50.449" v="1811" actId="1076"/>
          <ac:picMkLst>
            <pc:docMk/>
            <pc:sldMk cId="3694234696" sldId="2147478215"/>
            <ac:picMk id="7186" creationId="{F08B3126-E0F8-973B-AEEC-CCABCE1F3780}"/>
          </ac:picMkLst>
        </pc:picChg>
      </pc:sldChg>
      <pc:sldChg chg="addSp modSp mod modNotesTx">
        <pc:chgData name="Marina Huang" userId="7ae836ea-9a4e-4e99-aaf0-474cac1e8476" providerId="ADAL" clId="{A36108A9-8AAF-5128-BB58-B4C6860579FC}" dt="2026-02-06T01:42:39.426" v="2639" actId="20577"/>
        <pc:sldMkLst>
          <pc:docMk/>
          <pc:sldMk cId="1171857443" sldId="2147478217"/>
        </pc:sldMkLst>
        <pc:spChg chg="add mod">
          <ac:chgData name="Marina Huang" userId="7ae836ea-9a4e-4e99-aaf0-474cac1e8476" providerId="ADAL" clId="{A36108A9-8AAF-5128-BB58-B4C6860579FC}" dt="2026-02-05T10:10:31.854" v="1870" actId="20577"/>
          <ac:spMkLst>
            <pc:docMk/>
            <pc:sldMk cId="1171857443" sldId="2147478217"/>
            <ac:spMk id="5" creationId="{EFD90AF5-5CE0-F9EE-C91D-7150C04F3049}"/>
          </ac:spMkLst>
        </pc:spChg>
      </pc:sldChg>
      <pc:sldChg chg="modNotesTx">
        <pc:chgData name="Marina Huang" userId="7ae836ea-9a4e-4e99-aaf0-474cac1e8476" providerId="ADAL" clId="{A36108A9-8AAF-5128-BB58-B4C6860579FC}" dt="2026-02-06T02:07:22.070" v="5250" actId="20577"/>
        <pc:sldMkLst>
          <pc:docMk/>
          <pc:sldMk cId="3222897943" sldId="2147478218"/>
        </pc:sldMkLst>
      </pc:sldChg>
      <pc:sldChg chg="modNotesTx">
        <pc:chgData name="Marina Huang" userId="7ae836ea-9a4e-4e99-aaf0-474cac1e8476" providerId="ADAL" clId="{A36108A9-8AAF-5128-BB58-B4C6860579FC}" dt="2026-02-06T01:46:46.359" v="3168" actId="20577"/>
        <pc:sldMkLst>
          <pc:docMk/>
          <pc:sldMk cId="909205645" sldId="2147478219"/>
        </pc:sldMkLst>
      </pc:sldChg>
    </pc:docChg>
  </pc:docChgLst>
  <pc:docChgLst>
    <pc:chgData name="Deyin Liu" userId="S::deyin.liu@batechworks.com::59c41153-0ed1-4ca4-89dd-dca71c0312da" providerId="AD" clId="Web-{A89E2028-164E-4BA1-8DEA-8FD876DA3C36}"/>
    <pc:docChg chg="modSld">
      <pc:chgData name="Deyin Liu" userId="S::deyin.liu@batechworks.com::59c41153-0ed1-4ca4-89dd-dca71c0312da" providerId="AD" clId="Web-{A89E2028-164E-4BA1-8DEA-8FD876DA3C36}" dt="2026-02-05T09:36:07.378" v="9" actId="20577"/>
      <pc:docMkLst>
        <pc:docMk/>
      </pc:docMkLst>
      <pc:sldChg chg="modSp">
        <pc:chgData name="Deyin Liu" userId="S::deyin.liu@batechworks.com::59c41153-0ed1-4ca4-89dd-dca71c0312da" providerId="AD" clId="Web-{A89E2028-164E-4BA1-8DEA-8FD876DA3C36}" dt="2026-02-05T09:36:07.378" v="9" actId="20577"/>
        <pc:sldMkLst>
          <pc:docMk/>
          <pc:sldMk cId="4022903958" sldId="2147478202"/>
        </pc:sldMkLst>
        <pc:spChg chg="mod">
          <ac:chgData name="Deyin Liu" userId="S::deyin.liu@batechworks.com::59c41153-0ed1-4ca4-89dd-dca71c0312da" providerId="AD" clId="Web-{A89E2028-164E-4BA1-8DEA-8FD876DA3C36}" dt="2026-02-05T09:36:07.378" v="9" actId="20577"/>
          <ac:spMkLst>
            <pc:docMk/>
            <pc:sldMk cId="4022903958" sldId="2147478202"/>
            <ac:spMk id="7" creationId="{F0E10C68-33B6-E30A-117A-02B74C012FE8}"/>
          </ac:spMkLst>
        </pc:spChg>
      </pc:sldChg>
    </pc:docChg>
  </pc:docChgLst>
  <pc:docChgLst>
    <pc:chgData name="Deyin Liu" userId="S::deyin.liu@batechworks.com::59c41153-0ed1-4ca4-89dd-dca71c0312da" providerId="AD" clId="Web-{6511B1BD-7909-2F29-80C3-442D53F34489}"/>
    <pc:docChg chg="modSld">
      <pc:chgData name="Deyin Liu" userId="S::deyin.liu@batechworks.com::59c41153-0ed1-4ca4-89dd-dca71c0312da" providerId="AD" clId="Web-{6511B1BD-7909-2F29-80C3-442D53F34489}" dt="2026-02-05T09:39:23.198" v="8" actId="20577"/>
      <pc:docMkLst>
        <pc:docMk/>
      </pc:docMkLst>
      <pc:sldChg chg="addSp">
        <pc:chgData name="Deyin Liu" userId="S::deyin.liu@batechworks.com::59c41153-0ed1-4ca4-89dd-dca71c0312da" providerId="AD" clId="Web-{6511B1BD-7909-2F29-80C3-442D53F34489}" dt="2026-02-05T09:37:39.697" v="2"/>
        <pc:sldMkLst>
          <pc:docMk/>
          <pc:sldMk cId="2124774883" sldId="295"/>
        </pc:sldMkLst>
        <pc:picChg chg="add">
          <ac:chgData name="Deyin Liu" userId="S::deyin.liu@batechworks.com::59c41153-0ed1-4ca4-89dd-dca71c0312da" providerId="AD" clId="Web-{6511B1BD-7909-2F29-80C3-442D53F34489}" dt="2026-02-05T09:37:39.697" v="2"/>
          <ac:picMkLst>
            <pc:docMk/>
            <pc:sldMk cId="2124774883" sldId="295"/>
            <ac:picMk id="5" creationId="{9557EC75-BC99-05B9-481D-861C135C3DB5}"/>
          </ac:picMkLst>
        </pc:picChg>
      </pc:sldChg>
      <pc:sldChg chg="modSp">
        <pc:chgData name="Deyin Liu" userId="S::deyin.liu@batechworks.com::59c41153-0ed1-4ca4-89dd-dca71c0312da" providerId="AD" clId="Web-{6511B1BD-7909-2F29-80C3-442D53F34489}" dt="2026-02-05T09:37:30.791" v="1" actId="20577"/>
        <pc:sldMkLst>
          <pc:docMk/>
          <pc:sldMk cId="2652265796" sldId="2147478203"/>
        </pc:sldMkLst>
        <pc:spChg chg="mod">
          <ac:chgData name="Deyin Liu" userId="S::deyin.liu@batechworks.com::59c41153-0ed1-4ca4-89dd-dca71c0312da" providerId="AD" clId="Web-{6511B1BD-7909-2F29-80C3-442D53F34489}" dt="2026-02-05T09:37:30.791" v="1" actId="20577"/>
          <ac:spMkLst>
            <pc:docMk/>
            <pc:sldMk cId="2652265796" sldId="2147478203"/>
            <ac:spMk id="4" creationId="{57411112-8EC3-1804-B5B5-F7D2CC80913F}"/>
          </ac:spMkLst>
        </pc:spChg>
      </pc:sldChg>
      <pc:sldChg chg="modSp">
        <pc:chgData name="Deyin Liu" userId="S::deyin.liu@batechworks.com::59c41153-0ed1-4ca4-89dd-dca71c0312da" providerId="AD" clId="Web-{6511B1BD-7909-2F29-80C3-442D53F34489}" dt="2026-02-05T09:38:05.822" v="5" actId="20577"/>
        <pc:sldMkLst>
          <pc:docMk/>
          <pc:sldMk cId="2356024864" sldId="2147478208"/>
        </pc:sldMkLst>
        <pc:spChg chg="mod">
          <ac:chgData name="Deyin Liu" userId="S::deyin.liu@batechworks.com::59c41153-0ed1-4ca4-89dd-dca71c0312da" providerId="AD" clId="Web-{6511B1BD-7909-2F29-80C3-442D53F34489}" dt="2026-02-05T09:38:05.822" v="5" actId="20577"/>
          <ac:spMkLst>
            <pc:docMk/>
            <pc:sldMk cId="2356024864" sldId="2147478208"/>
            <ac:spMk id="2" creationId="{FA6DE2BC-8FA6-C542-B436-C0F4D4AB5822}"/>
          </ac:spMkLst>
        </pc:spChg>
      </pc:sldChg>
      <pc:sldChg chg="modSp">
        <pc:chgData name="Deyin Liu" userId="S::deyin.liu@batechworks.com::59c41153-0ed1-4ca4-89dd-dca71c0312da" providerId="AD" clId="Web-{6511B1BD-7909-2F29-80C3-442D53F34489}" dt="2026-02-05T09:39:23.198" v="8" actId="20577"/>
        <pc:sldMkLst>
          <pc:docMk/>
          <pc:sldMk cId="4037182640" sldId="2147478212"/>
        </pc:sldMkLst>
        <pc:spChg chg="mod">
          <ac:chgData name="Deyin Liu" userId="S::deyin.liu@batechworks.com::59c41153-0ed1-4ca4-89dd-dca71c0312da" providerId="AD" clId="Web-{6511B1BD-7909-2F29-80C3-442D53F34489}" dt="2026-02-05T09:39:23.198" v="8" actId="20577"/>
          <ac:spMkLst>
            <pc:docMk/>
            <pc:sldMk cId="4037182640" sldId="2147478212"/>
            <ac:spMk id="2" creationId="{D0067230-8A50-51D8-3237-52602DFD1B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1AEB8-B5C8-5C4D-8B21-675D62ED0F41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78F08-4157-B84C-8317-7DE05F8F72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06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Auto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previewer</a:t>
            </a:r>
            <a:r>
              <a:rPr kumimoji="1" lang="zh-CN" altLang="en-US" dirty="0"/>
              <a:t>：一个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驱动的，基于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的自动化</a:t>
            </a:r>
            <a:r>
              <a:rPr kumimoji="1" lang="en-US" altLang="zh-CN" dirty="0"/>
              <a:t>pr</a:t>
            </a:r>
            <a:r>
              <a:rPr kumimoji="1" lang="zh-CN" altLang="en-US" dirty="0"/>
              <a:t>审核系统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8927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060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在项目中，代码在 </a:t>
            </a:r>
            <a:r>
              <a:rPr lang="en" altLang="zh-CN" dirty="0"/>
              <a:t>PR </a:t>
            </a:r>
            <a:r>
              <a:rPr lang="zh-CN" altLang="en-US" dirty="0"/>
              <a:t>提交之后、合并到 </a:t>
            </a:r>
            <a:r>
              <a:rPr lang="en" altLang="zh-CN" dirty="0"/>
              <a:t>main </a:t>
            </a:r>
            <a:r>
              <a:rPr lang="zh-CN" altLang="en-US" dirty="0"/>
              <a:t>分支之前，通常需要由人工 </a:t>
            </a:r>
            <a:r>
              <a:rPr lang="en" altLang="zh-CN" dirty="0"/>
              <a:t>previewer </a:t>
            </a:r>
            <a:r>
              <a:rPr lang="zh-CN" altLang="en-US" dirty="0"/>
              <a:t>进行系统性的检查，以确保最终进入主分支的代码在正确性和质量上都符合要求。</a:t>
            </a:r>
            <a:br>
              <a:rPr lang="zh-CN" altLang="en-US" dirty="0"/>
            </a:br>
            <a:r>
              <a:rPr lang="en" altLang="zh-CN" dirty="0"/>
              <a:t>Previewer </a:t>
            </a:r>
            <a:r>
              <a:rPr lang="zh-CN" altLang="en-US" dirty="0"/>
              <a:t>不仅需要关注显性的语法或风格问题，还要识别潜在的逻辑缺陷以及是否符合既定规范。随着项目规模和代码量的持续增长，这一过程对 </a:t>
            </a:r>
            <a:r>
              <a:rPr lang="en" altLang="zh-CN" dirty="0"/>
              <a:t>reviewer </a:t>
            </a:r>
            <a:r>
              <a:rPr lang="zh-CN" altLang="en-US" dirty="0"/>
              <a:t>带来的审查压力也在显著增加。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5688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在实际的代码审查中，从效率角度来看，</a:t>
            </a:r>
            <a:r>
              <a:rPr lang="en" altLang="zh-CN" dirty="0"/>
              <a:t>reviewer </a:t>
            </a:r>
            <a:r>
              <a:rPr lang="zh-CN" altLang="en-US" dirty="0"/>
              <a:t>更希望将主要精力放在</a:t>
            </a:r>
            <a:r>
              <a:rPr lang="zh-CN" altLang="en-US" b="1" dirty="0"/>
              <a:t>潜在逻辑错误和高风险问题的识别</a:t>
            </a:r>
            <a:r>
              <a:rPr lang="zh-CN" altLang="en-US" dirty="0"/>
              <a:t>上，而不是反复处理那些</a:t>
            </a:r>
            <a:r>
              <a:rPr lang="zh-CN" altLang="en-US" b="1" dirty="0"/>
              <a:t>低层次、重复性的工程规范问题</a:t>
            </a:r>
            <a:r>
              <a:rPr lang="zh-CN" altLang="en-US" dirty="0"/>
              <a:t>。但现实情况是，这类规范性检查目前仍然占据了大量时间和精力。</a:t>
            </a:r>
          </a:p>
          <a:p>
            <a:r>
              <a:rPr lang="zh-CN" altLang="en-US" dirty="0"/>
              <a:t>在之前的讨论中，团队已经初步形成了一套</a:t>
            </a:r>
            <a:r>
              <a:rPr lang="zh-CN" altLang="en-US" b="1" dirty="0"/>
              <a:t>项目层面公认的 </a:t>
            </a:r>
            <a:r>
              <a:rPr lang="en" altLang="zh-CN" b="1" dirty="0"/>
              <a:t>coding rules</a:t>
            </a:r>
            <a:r>
              <a:rPr lang="zh-CN" altLang="en" dirty="0"/>
              <a:t>，</a:t>
            </a:r>
            <a:r>
              <a:rPr lang="zh-CN" altLang="en-US" dirty="0"/>
              <a:t>即一组需要统一遵守的 </a:t>
            </a:r>
            <a:r>
              <a:rPr lang="en" altLang="zh-CN" b="1" dirty="0"/>
              <a:t>mid-level </a:t>
            </a:r>
            <a:r>
              <a:rPr lang="zh-CN" altLang="en-US" b="1" dirty="0"/>
              <a:t>代码编写准则</a:t>
            </a:r>
            <a:r>
              <a:rPr lang="zh-CN" altLang="en-US" dirty="0"/>
              <a:t>。然而，仅依赖人工自觉遵守，这类规则的约束力和执行效果都比较有限。</a:t>
            </a:r>
          </a:p>
          <a:p>
            <a:r>
              <a:rPr lang="zh-CN" altLang="en-US" dirty="0"/>
              <a:t>因此，团队需要一个</a:t>
            </a:r>
            <a:r>
              <a:rPr lang="zh-CN" altLang="en-US" b="1" dirty="0"/>
              <a:t>统一、可反馈的系统</a:t>
            </a:r>
            <a:r>
              <a:rPr lang="zh-CN" altLang="en-US" dirty="0"/>
              <a:t>，能够在人工 </a:t>
            </a:r>
            <a:r>
              <a:rPr lang="en" altLang="zh-CN" dirty="0"/>
              <a:t>review </a:t>
            </a:r>
            <a:r>
              <a:rPr lang="zh-CN" altLang="en-US" dirty="0"/>
              <a:t>之前，对 </a:t>
            </a:r>
            <a:r>
              <a:rPr lang="en" altLang="zh-CN" dirty="0"/>
              <a:t>PR </a:t>
            </a:r>
            <a:r>
              <a:rPr lang="zh-CN" altLang="en-US" dirty="0"/>
              <a:t>进行自动化检查，将代码规范化的过程前移，甚至实现</a:t>
            </a:r>
            <a:r>
              <a:rPr lang="zh-CN" altLang="en-US" b="1" dirty="0"/>
              <a:t>规范检查与生成本身的自动化</a:t>
            </a:r>
            <a:r>
              <a:rPr lang="en-US" altLang="zh-CN" dirty="0"/>
              <a:t>——</a:t>
            </a:r>
            <a:r>
              <a:rPr lang="zh-CN" altLang="en-US" dirty="0"/>
              <a:t>这正是我们构想的 </a:t>
            </a:r>
            <a:r>
              <a:rPr lang="en" altLang="zh-CN" b="1" dirty="0"/>
              <a:t>AI auto previewer</a:t>
            </a:r>
            <a:r>
              <a:rPr lang="en" altLang="zh-CN" dirty="0"/>
              <a:t> </a:t>
            </a:r>
            <a:r>
              <a:rPr lang="zh-CN" altLang="en-US" dirty="0"/>
              <a:t>的定位。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3923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950A-5B91-5E1A-1C55-8F4FE94C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6EA00E-6D53-E06C-2089-AAC273843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36E0C9-E304-B592-60CD-60BB3AF11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我设计的</a:t>
            </a:r>
            <a:r>
              <a:rPr kumimoji="1" lang="en-US" altLang="zh-CN" dirty="0"/>
              <a:t>auto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previewer</a:t>
            </a:r>
            <a:r>
              <a:rPr kumimoji="1" lang="zh-CN" altLang="en-US" dirty="0"/>
              <a:t>，将会在</a:t>
            </a:r>
            <a:r>
              <a:rPr kumimoji="1" lang="en-US" altLang="zh-CN" dirty="0"/>
              <a:t>human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reviewer</a:t>
            </a:r>
            <a:r>
              <a:rPr kumimoji="1" lang="zh-CN" altLang="en-US" dirty="0"/>
              <a:t>之前担任一个反馈式软门禁的效果：在作者提交</a:t>
            </a:r>
            <a:r>
              <a:rPr kumimoji="1" lang="en-US" altLang="zh-CN" dirty="0"/>
              <a:t>pr</a:t>
            </a:r>
            <a:r>
              <a:rPr kumimoji="1" lang="zh-CN" altLang="en-US" dirty="0"/>
              <a:t>之后，会先进入</a:t>
            </a:r>
            <a:r>
              <a:rPr kumimoji="1" lang="en-US" altLang="zh-CN" dirty="0"/>
              <a:t>auto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previewer</a:t>
            </a:r>
            <a:r>
              <a:rPr kumimoji="1" lang="zh-CN" altLang="en-US" dirty="0"/>
              <a:t>的流程，其会更具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，生成一个模板化，规范化的</a:t>
            </a:r>
            <a:r>
              <a:rPr kumimoji="1" lang="en-US" altLang="zh-CN" dirty="0"/>
              <a:t>repo</a:t>
            </a:r>
            <a:r>
              <a:rPr kumimoji="1" lang="zh-CN" altLang="en-US" dirty="0"/>
              <a:t>文件。</a:t>
            </a:r>
            <a:endParaRPr kumimoji="1" lang="en-US" altLang="zh-CN" dirty="0"/>
          </a:p>
          <a:p>
            <a:r>
              <a:rPr kumimoji="1" lang="zh-CN" altLang="en-US" dirty="0"/>
              <a:t>结果如果通过，则会继续到下一步的</a:t>
            </a:r>
            <a:r>
              <a:rPr kumimoji="1" lang="en-US" altLang="zh-CN" dirty="0"/>
              <a:t>hp</a:t>
            </a:r>
            <a:r>
              <a:rPr kumimoji="1" lang="zh-CN" altLang="en-US" dirty="0"/>
              <a:t>；如果没有，则可以根据提出的建议和与规则冲突的地方，进行改进后再次发起</a:t>
            </a:r>
            <a:r>
              <a:rPr kumimoji="1" lang="en-US" altLang="zh-CN" dirty="0"/>
              <a:t>pr</a:t>
            </a:r>
            <a:r>
              <a:rPr kumimoji="1" lang="zh-CN" altLang="en-US" dirty="0"/>
              <a:t>，直到通过；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69A9D0-1D4A-C1A6-3B7B-7266AE4B1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5920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为了验证</a:t>
            </a:r>
            <a:r>
              <a:rPr lang="en-US" altLang="zh-CN" b="1" dirty="0"/>
              <a:t>LLM</a:t>
            </a:r>
            <a:r>
              <a:rPr lang="zh-CN" altLang="en-US" b="1" dirty="0"/>
              <a:t> 生成抽象</a:t>
            </a:r>
            <a:r>
              <a:rPr lang="en-US" altLang="zh-CN" b="1" dirty="0"/>
              <a:t>rule</a:t>
            </a:r>
            <a:r>
              <a:rPr lang="zh-CN" altLang="en-US" b="1" dirty="0"/>
              <a:t>的理论可行性，找了四篇论文：</a:t>
            </a:r>
            <a:endParaRPr lang="en-US" altLang="zh-CN" b="1" dirty="0"/>
          </a:p>
          <a:p>
            <a:r>
              <a:rPr lang="zh-CN" altLang="en-US" b="1" dirty="0"/>
              <a:t>第一篇讲的是。。</a:t>
            </a:r>
            <a:endParaRPr lang="en-US" altLang="zh-CN" b="1" dirty="0"/>
          </a:p>
          <a:p>
            <a:r>
              <a:rPr lang="zh-CN" altLang="en-US" b="1" dirty="0"/>
              <a:t>规则蒸馏（</a:t>
            </a:r>
            <a:r>
              <a:rPr lang="en" altLang="zh-CN" b="1" dirty="0"/>
              <a:t>Rule distillation</a:t>
            </a:r>
            <a:r>
              <a:rPr lang="zh-CN" altLang="en" b="1" dirty="0"/>
              <a:t>）</a:t>
            </a:r>
            <a:r>
              <a:rPr lang="en" altLang="zh-CN" b="1" dirty="0"/>
              <a:t>[1]</a:t>
            </a:r>
            <a:r>
              <a:rPr lang="zh-CN" altLang="en" dirty="0"/>
              <a:t>：</a:t>
            </a:r>
            <a:r>
              <a:rPr lang="en" altLang="zh-CN" dirty="0"/>
              <a:t>Zhang et al. (2023) </a:t>
            </a:r>
            <a:r>
              <a:rPr lang="zh-CN" altLang="en-US" dirty="0"/>
              <a:t>证明可以将显式的规则知识蒸馏进 </a:t>
            </a:r>
            <a:r>
              <a:rPr lang="en" altLang="zh-CN" dirty="0"/>
              <a:t>LLM</a:t>
            </a:r>
            <a:r>
              <a:rPr lang="zh-CN" altLang="en" dirty="0"/>
              <a:t>，</a:t>
            </a:r>
            <a:r>
              <a:rPr lang="zh-CN" altLang="en-US" dirty="0"/>
              <a:t>以提升模型的规则遵循能力（可以把人类已经明确写好的规则“教”给大模型，从而让模型更容易按照规则正确地工作）。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1" dirty="0"/>
              <a:t>Rule experts [3]</a:t>
            </a:r>
            <a:r>
              <a:rPr lang="zh-CN" altLang="en" dirty="0"/>
              <a:t>：</a:t>
            </a:r>
            <a:r>
              <a:rPr lang="en" altLang="zh-CN" dirty="0"/>
              <a:t>Wang et al. (2025)</a:t>
            </a:r>
            <a:r>
              <a:rPr lang="zh-CN" altLang="en-US" dirty="0"/>
              <a:t>引入了“规则专家”的概念，让大模型在规则专家的辅助下学习规则，使结果更加可靠，同时也更容易被人理解。</a:t>
            </a:r>
          </a:p>
          <a:p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脆弱归纳（</a:t>
            </a:r>
            <a:r>
              <a:rPr lang="en" altLang="zh-CN" b="1" dirty="0"/>
              <a:t>Fragile induction</a:t>
            </a:r>
            <a:r>
              <a:rPr lang="zh-CN" altLang="en" b="1" dirty="0"/>
              <a:t>）</a:t>
            </a:r>
            <a:r>
              <a:rPr lang="en" altLang="zh-CN" b="1" dirty="0"/>
              <a:t>[2]</a:t>
            </a:r>
            <a:r>
              <a:rPr lang="zh-CN" altLang="en" dirty="0"/>
              <a:t>：</a:t>
            </a:r>
            <a:r>
              <a:rPr lang="en" altLang="zh-CN" dirty="0"/>
              <a:t>Li et al. (2025) </a:t>
            </a:r>
            <a:r>
              <a:rPr lang="zh-CN" altLang="en-US" dirty="0"/>
              <a:t>指出大模型在自己总结规则时，容易受到噪声数据的影响而出错，但通过合适的优化方法，可以让规则总结过程更稳定。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r>
              <a:rPr lang="zh-CN" altLang="en-US" b="1" dirty="0"/>
              <a:t>归纳</a:t>
            </a:r>
            <a:r>
              <a:rPr lang="en-US" altLang="zh-CN" b="1" dirty="0"/>
              <a:t>-</a:t>
            </a:r>
            <a:r>
              <a:rPr lang="zh-CN" altLang="en-US" b="1" dirty="0"/>
              <a:t>演绎</a:t>
            </a:r>
            <a:r>
              <a:rPr lang="en-US" altLang="zh-CN" b="1" dirty="0"/>
              <a:t>-</a:t>
            </a:r>
            <a:r>
              <a:rPr lang="zh-CN" altLang="en-US" b="1" dirty="0"/>
              <a:t>溯因</a:t>
            </a:r>
            <a:r>
              <a:rPr lang="en" altLang="zh-CN" b="1" dirty="0"/>
              <a:t>Induction‑deduction‑abduction [4]</a:t>
            </a:r>
            <a:r>
              <a:rPr lang="zh-CN" altLang="en" dirty="0"/>
              <a:t>：</a:t>
            </a:r>
            <a:r>
              <a:rPr lang="en" altLang="zh-CN" dirty="0"/>
              <a:t>Chen et al. (2025)</a:t>
            </a:r>
            <a:r>
              <a:rPr lang="zh-CN" altLang="en-US" dirty="0"/>
              <a:t>该研究将多种推理方式结合起来，让大模型在学习和应用规则时更加全面和有效。</a:t>
            </a:r>
            <a:endParaRPr lang="en-US" altLang="zh-CN" dirty="0"/>
          </a:p>
          <a:p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9978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什么是 </a:t>
            </a:r>
            <a:r>
              <a:rPr lang="en" altLang="zh-CN" b="1" dirty="0"/>
              <a:t>Agent</a:t>
            </a:r>
            <a:r>
              <a:rPr lang="zh-CN" altLang="en" b="1" dirty="0"/>
              <a:t>？</a:t>
            </a:r>
            <a:br>
              <a:rPr lang="en" altLang="zh-CN" dirty="0"/>
            </a:br>
            <a:r>
              <a:rPr lang="en" altLang="zh-CN" dirty="0"/>
              <a:t>Agent </a:t>
            </a:r>
            <a:r>
              <a:rPr lang="zh-CN" altLang="en-US" dirty="0"/>
              <a:t>可以理解为由 </a:t>
            </a:r>
            <a:r>
              <a:rPr lang="en" altLang="zh-CN" b="1" dirty="0"/>
              <a:t>LLM</a:t>
            </a:r>
            <a:r>
              <a:rPr lang="zh-CN" altLang="en" b="1" dirty="0"/>
              <a:t>、</a:t>
            </a:r>
            <a:r>
              <a:rPr lang="zh-CN" altLang="en-US" b="1" dirty="0"/>
              <a:t>工具、记忆和目标</a:t>
            </a:r>
            <a:r>
              <a:rPr lang="zh-CN" altLang="en-US" dirty="0"/>
              <a:t> 共同组成的系统。其中</a:t>
            </a:r>
            <a:r>
              <a:rPr lang="en-US" altLang="zh-CN" dirty="0" err="1"/>
              <a:t>llm</a:t>
            </a:r>
            <a:r>
              <a:rPr lang="zh-CN" altLang="en-US" dirty="0"/>
              <a:t>是</a:t>
            </a:r>
            <a:r>
              <a:rPr lang="en-US" altLang="zh-CN" dirty="0"/>
              <a:t>driver</a:t>
            </a:r>
            <a:r>
              <a:rPr lang="zh-CN" altLang="en-US" dirty="0"/>
              <a:t>，其起到整体统筹决策的作用。</a:t>
            </a:r>
            <a:br>
              <a:rPr lang="zh-CN" altLang="en-US" dirty="0"/>
            </a:br>
            <a:r>
              <a:rPr lang="zh-CN" altLang="en-US" dirty="0"/>
              <a:t>它不是一次性回答问题的模型，而是一个</a:t>
            </a:r>
            <a:r>
              <a:rPr lang="zh-CN" altLang="en-US" b="1" dirty="0"/>
              <a:t>能够自主运行、围绕目标持续行动</a:t>
            </a:r>
            <a:r>
              <a:rPr lang="zh-CN" altLang="en-US" dirty="0"/>
              <a:t>的实体。</a:t>
            </a:r>
            <a:br>
              <a:rPr lang="zh-CN" altLang="en-US" dirty="0"/>
            </a:br>
            <a:r>
              <a:rPr lang="en" altLang="zh-CN" dirty="0"/>
              <a:t>Agent </a:t>
            </a:r>
            <a:r>
              <a:rPr lang="zh-CN" altLang="en-US" dirty="0"/>
              <a:t>具备目标驱动的行为模式，能够感知当前上下文，并在执行过程中不断做出决策和调整。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en" altLang="zh-CN" b="1" dirty="0"/>
              <a:t>Agent </a:t>
            </a:r>
            <a:r>
              <a:rPr lang="zh-CN" altLang="en-US" b="1" dirty="0"/>
              <a:t>的核心特征</a:t>
            </a:r>
            <a:br>
              <a:rPr lang="zh-CN" altLang="en-US" dirty="0"/>
            </a:br>
            <a:r>
              <a:rPr lang="zh-CN" altLang="en-US" dirty="0"/>
              <a:t>首先，</a:t>
            </a:r>
            <a:r>
              <a:rPr lang="en" altLang="zh-CN" dirty="0"/>
              <a:t>Agent </a:t>
            </a:r>
            <a:r>
              <a:rPr lang="zh-CN" altLang="en-US" dirty="0"/>
              <a:t>是</a:t>
            </a:r>
            <a:r>
              <a:rPr lang="zh-CN" altLang="en-US" b="1" dirty="0"/>
              <a:t>自主的</a:t>
            </a:r>
            <a:r>
              <a:rPr lang="zh-CN" altLang="en-US" dirty="0"/>
              <a:t>，可以在较少人工干预的情况下完成任务。</a:t>
            </a:r>
            <a:br>
              <a:rPr lang="zh-CN" altLang="en-US" dirty="0"/>
            </a:br>
            <a:r>
              <a:rPr lang="zh-CN" altLang="en-US" dirty="0"/>
              <a:t>其次，它是</a:t>
            </a:r>
            <a:r>
              <a:rPr lang="zh-CN" altLang="en-US" b="1" dirty="0"/>
              <a:t>目标导向的</a:t>
            </a:r>
            <a:r>
              <a:rPr lang="zh-CN" altLang="en-US" dirty="0"/>
              <a:t>，所有行为都围绕用户或系统设定的目标展开。</a:t>
            </a:r>
            <a:br>
              <a:rPr lang="zh-CN" altLang="en-US" dirty="0"/>
            </a:br>
            <a:r>
              <a:rPr lang="zh-CN" altLang="en-US" dirty="0"/>
              <a:t>同时，</a:t>
            </a:r>
            <a:r>
              <a:rPr lang="en" altLang="zh-CN" dirty="0"/>
              <a:t>Agent </a:t>
            </a:r>
            <a:r>
              <a:rPr lang="zh-CN" altLang="en-US" dirty="0"/>
              <a:t>是</a:t>
            </a:r>
            <a:r>
              <a:rPr lang="zh-CN" altLang="en-US" b="1" dirty="0"/>
              <a:t>上下文感知的</a:t>
            </a:r>
            <a:r>
              <a:rPr lang="zh-CN" altLang="en-US" dirty="0"/>
              <a:t>，能够利用历史状态和环境信息做出更合理的判断。</a:t>
            </a:r>
            <a:br>
              <a:rPr lang="zh-CN" altLang="en-US" dirty="0"/>
            </a:br>
            <a:r>
              <a:rPr lang="zh-CN" altLang="en-US" dirty="0"/>
              <a:t>最后，</a:t>
            </a:r>
            <a:r>
              <a:rPr lang="en" altLang="zh-CN" dirty="0"/>
              <a:t>Agent </a:t>
            </a:r>
            <a:r>
              <a:rPr lang="zh-CN" altLang="en-US" dirty="0"/>
              <a:t>具备</a:t>
            </a:r>
            <a:r>
              <a:rPr lang="zh-CN" altLang="en-US" b="1" dirty="0"/>
              <a:t>迭代决策能力</a:t>
            </a:r>
            <a:r>
              <a:rPr lang="zh-CN" altLang="en-US" dirty="0"/>
              <a:t>，可以根据执行结果不断修正后续行动。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什么是 </a:t>
            </a:r>
            <a:r>
              <a:rPr lang="en" altLang="zh-CN" b="1" dirty="0"/>
              <a:t>Skill</a:t>
            </a:r>
            <a:r>
              <a:rPr lang="zh-CN" altLang="en" b="1" dirty="0"/>
              <a:t>？</a:t>
            </a:r>
            <a:br>
              <a:rPr lang="en" altLang="zh-CN" dirty="0"/>
            </a:br>
            <a:r>
              <a:rPr lang="en" altLang="zh-CN" dirty="0"/>
              <a:t>Skill </a:t>
            </a:r>
            <a:r>
              <a:rPr lang="zh-CN" altLang="en-US" dirty="0"/>
              <a:t>是 </a:t>
            </a:r>
            <a:r>
              <a:rPr lang="en" altLang="zh-CN" dirty="0"/>
              <a:t>Agent </a:t>
            </a:r>
            <a:r>
              <a:rPr lang="zh-CN" altLang="en-US" dirty="0"/>
              <a:t>的</a:t>
            </a:r>
            <a:r>
              <a:rPr lang="zh-CN" altLang="en-US" b="1" dirty="0"/>
              <a:t>能力单元</a:t>
            </a:r>
            <a:r>
              <a:rPr lang="zh-CN" altLang="en-US" dirty="0"/>
              <a:t>，用于完成某一类具体任务。（类似于</a:t>
            </a:r>
            <a:r>
              <a:rPr lang="en-US" altLang="zh-CN" dirty="0"/>
              <a:t>LLM</a:t>
            </a:r>
            <a:r>
              <a:rPr lang="zh-CN" altLang="en-US" dirty="0"/>
              <a:t>可以调用的函数，但是没有函数那么严格）</a:t>
            </a:r>
            <a:br>
              <a:rPr lang="zh-CN" altLang="en-US" dirty="0"/>
            </a:br>
            <a:r>
              <a:rPr lang="zh-CN" altLang="en-US" dirty="0"/>
              <a:t>每个 </a:t>
            </a:r>
            <a:r>
              <a:rPr lang="en" altLang="zh-CN" dirty="0"/>
              <a:t>Skill </a:t>
            </a:r>
            <a:r>
              <a:rPr lang="zh-CN" altLang="en-US" dirty="0"/>
              <a:t>通常是</a:t>
            </a:r>
            <a:r>
              <a:rPr lang="zh-CN" altLang="en-US" b="1" dirty="0"/>
              <a:t>原子化、可复用、可组合</a:t>
            </a:r>
            <a:r>
              <a:rPr lang="zh-CN" altLang="en-US" dirty="0"/>
              <a:t>的，可以被不同 </a:t>
            </a:r>
            <a:r>
              <a:rPr lang="en" altLang="zh-CN" dirty="0"/>
              <a:t>Agent </a:t>
            </a:r>
            <a:r>
              <a:rPr lang="zh-CN" altLang="en-US" dirty="0"/>
              <a:t>在不同场景下反复灵活的调用。</a:t>
            </a:r>
            <a:br>
              <a:rPr lang="zh-CN" altLang="en-US" dirty="0"/>
            </a:br>
            <a:r>
              <a:rPr lang="zh-CN" altLang="en-US" dirty="0"/>
              <a:t>在实现层面，</a:t>
            </a:r>
            <a:r>
              <a:rPr lang="en" altLang="zh-CN" dirty="0"/>
              <a:t>Skill </a:t>
            </a:r>
            <a:r>
              <a:rPr lang="zh-CN" altLang="en-US" dirty="0"/>
              <a:t>往往以工具、</a:t>
            </a:r>
            <a:r>
              <a:rPr lang="en" altLang="zh-CN" dirty="0"/>
              <a:t>API </a:t>
            </a:r>
            <a:r>
              <a:rPr lang="zh-CN" altLang="en-US" dirty="0"/>
              <a:t>调用或结构化 </a:t>
            </a:r>
            <a:r>
              <a:rPr lang="en" altLang="zh-CN" dirty="0"/>
              <a:t>Prompt </a:t>
            </a:r>
            <a:r>
              <a:rPr lang="zh-CN" altLang="en-US" dirty="0"/>
              <a:t>的形式存在。</a:t>
            </a:r>
            <a:endParaRPr lang="en-US" altLang="zh-CN" dirty="0"/>
          </a:p>
          <a:p>
            <a:r>
              <a:rPr lang="en-US" altLang="zh-CN" dirty="0"/>
              <a:t>Skill</a:t>
            </a:r>
            <a:r>
              <a:rPr lang="zh-CN" altLang="en-US" dirty="0"/>
              <a:t>的格式通常包括标题（名字）和描述（这个也是最重要的部分，直接决定</a:t>
            </a:r>
            <a:r>
              <a:rPr lang="en-US" altLang="zh-CN" dirty="0"/>
              <a:t>LLM</a:t>
            </a:r>
            <a:r>
              <a:rPr lang="zh-CN" altLang="en-US" dirty="0"/>
              <a:t>应该在什么情况下调用，必须描述清楚）</a:t>
            </a:r>
            <a:endParaRPr lang="en-US" altLang="zh-CN" dirty="0"/>
          </a:p>
          <a:p>
            <a:endParaRPr lang="zh-CN" altLang="en-US" dirty="0"/>
          </a:p>
          <a:p>
            <a:r>
              <a:rPr lang="en" altLang="zh-CN" b="1" dirty="0"/>
              <a:t>Agent </a:t>
            </a:r>
            <a:r>
              <a:rPr lang="zh-CN" altLang="en-US" b="1" dirty="0"/>
              <a:t>与 </a:t>
            </a:r>
            <a:r>
              <a:rPr lang="en" altLang="zh-CN" b="1" dirty="0"/>
              <a:t>Skill </a:t>
            </a:r>
            <a:r>
              <a:rPr lang="zh-CN" altLang="en-US" b="1" dirty="0"/>
              <a:t>的协作方式</a:t>
            </a:r>
            <a:br>
              <a:rPr lang="zh-CN" altLang="en-US" dirty="0"/>
            </a:br>
            <a:r>
              <a:rPr lang="zh-CN" altLang="en-US" dirty="0"/>
              <a:t>在实际运行中，</a:t>
            </a:r>
            <a:r>
              <a:rPr lang="en" altLang="zh-CN" dirty="0"/>
              <a:t>Agent </a:t>
            </a:r>
            <a:r>
              <a:rPr lang="zh-CN" altLang="en-US" dirty="0"/>
              <a:t>并不直接完成所有细节工作，而是通过</a:t>
            </a:r>
            <a:r>
              <a:rPr lang="zh-CN" altLang="en-US" b="1" dirty="0"/>
              <a:t>规划与调度</a:t>
            </a:r>
            <a:r>
              <a:rPr lang="zh-CN" altLang="en-US" dirty="0"/>
              <a:t>来选择合适的 </a:t>
            </a:r>
            <a:r>
              <a:rPr lang="en" altLang="zh-CN" dirty="0"/>
              <a:t>Skill</a:t>
            </a:r>
            <a:r>
              <a:rPr lang="zh-CN" altLang="en" dirty="0"/>
              <a:t>。</a:t>
            </a:r>
            <a:br>
              <a:rPr lang="zh-CN" altLang="en" dirty="0"/>
            </a:br>
            <a:r>
              <a:rPr lang="en" altLang="zh-CN" dirty="0"/>
              <a:t>Agent </a:t>
            </a:r>
            <a:r>
              <a:rPr lang="zh-CN" altLang="en-US" dirty="0"/>
              <a:t>负责“想做什么”和“下一步做什么”，</a:t>
            </a:r>
            <a:r>
              <a:rPr lang="en" altLang="zh-CN" dirty="0"/>
              <a:t>Skill </a:t>
            </a:r>
            <a:r>
              <a:rPr lang="zh-CN" altLang="en-US" dirty="0"/>
              <a:t>负责“具体怎么做”。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整体工作流程</a:t>
            </a:r>
            <a:br>
              <a:rPr lang="zh-CN" altLang="en-US" dirty="0"/>
            </a:br>
            <a:r>
              <a:rPr lang="zh-CN" altLang="en-US" dirty="0"/>
              <a:t>整个流程可以概括为：</a:t>
            </a:r>
            <a:br>
              <a:rPr lang="zh-CN" altLang="en-US" dirty="0"/>
            </a:br>
            <a:r>
              <a:rPr lang="zh-CN" altLang="en-US" dirty="0"/>
              <a:t>用户提出目标 → </a:t>
            </a:r>
            <a:r>
              <a:rPr lang="en" altLang="zh-CN" dirty="0"/>
              <a:t>Agent </a:t>
            </a:r>
            <a:r>
              <a:rPr lang="zh-CN" altLang="en-US" dirty="0"/>
              <a:t>进行任务规划 → 选择合适的 </a:t>
            </a:r>
            <a:r>
              <a:rPr lang="en" altLang="zh-CN" dirty="0"/>
              <a:t>Skill → </a:t>
            </a:r>
            <a:r>
              <a:rPr lang="zh-CN" altLang="en-US" dirty="0"/>
              <a:t>执行任务 → 根据反馈调整策略。</a:t>
            </a:r>
            <a:br>
              <a:rPr lang="zh-CN" altLang="en-US" dirty="0"/>
            </a:br>
            <a:r>
              <a:rPr lang="zh-CN" altLang="en-US" dirty="0"/>
              <a:t>通过这一闭环，</a:t>
            </a:r>
            <a:r>
              <a:rPr lang="en" altLang="zh-CN" dirty="0"/>
              <a:t>Agent </a:t>
            </a:r>
            <a:r>
              <a:rPr lang="zh-CN" altLang="en-US" dirty="0"/>
              <a:t>能够逐步逼近目标，并在复杂任务中保持可控性和可扩展性。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6450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AUTO Previewer </a:t>
            </a:r>
            <a:r>
              <a:rPr lang="zh-CN" altLang="en-US" dirty="0"/>
              <a:t>的核心由三类操作型技能（</a:t>
            </a:r>
            <a:r>
              <a:rPr lang="en" altLang="zh-CN" dirty="0"/>
              <a:t>grab-pr</a:t>
            </a:r>
            <a:r>
              <a:rPr lang="zh-CN" altLang="en" dirty="0"/>
              <a:t>、</a:t>
            </a:r>
            <a:r>
              <a:rPr lang="en" altLang="zh-CN" dirty="0"/>
              <a:t>form-rules</a:t>
            </a:r>
            <a:r>
              <a:rPr lang="zh-CN" altLang="en" dirty="0"/>
              <a:t>、</a:t>
            </a:r>
            <a:r>
              <a:rPr lang="en" altLang="zh-CN" dirty="0"/>
              <a:t>preview</a:t>
            </a:r>
            <a:r>
              <a:rPr lang="zh-CN" altLang="en" dirty="0"/>
              <a:t>）</a:t>
            </a:r>
            <a:r>
              <a:rPr lang="zh-CN" altLang="en-US" dirty="0"/>
              <a:t>和两类元技能（</a:t>
            </a:r>
            <a:r>
              <a:rPr lang="en" altLang="zh-CN" dirty="0"/>
              <a:t>skill-creator</a:t>
            </a:r>
            <a:r>
              <a:rPr lang="zh-CN" altLang="en" dirty="0"/>
              <a:t>、</a:t>
            </a:r>
            <a:r>
              <a:rPr lang="en" altLang="zh-CN" dirty="0"/>
              <a:t>skill-installer</a:t>
            </a:r>
            <a:r>
              <a:rPr lang="zh-CN" altLang="en" dirty="0"/>
              <a:t>）</a:t>
            </a:r>
            <a:r>
              <a:rPr lang="zh-CN" altLang="en-US" dirty="0"/>
              <a:t>构成。遵循原子性与简洁性的设计原则，系统将复杂功能抽象为两个通用技能和一个功能性技能，</a:t>
            </a:r>
            <a:r>
              <a:rPr lang="en-US" altLang="zh-CN" dirty="0"/>
              <a:t>LLM</a:t>
            </a:r>
            <a:r>
              <a:rPr lang="zh-CN" altLang="en-US" dirty="0"/>
              <a:t>会自行调用这两个技能组合以完成复合任务。</a:t>
            </a:r>
          </a:p>
          <a:p>
            <a:r>
              <a:rPr lang="en" altLang="zh-CN" b="1" dirty="0"/>
              <a:t>grab-pr</a:t>
            </a:r>
            <a:r>
              <a:rPr lang="zh-CN" altLang="en" dirty="0"/>
              <a:t>：</a:t>
            </a:r>
            <a:r>
              <a:rPr lang="zh-CN" altLang="en-US" dirty="0"/>
              <a:t>用于从指定的 </a:t>
            </a:r>
            <a:r>
              <a:rPr lang="en" altLang="zh-CN" dirty="0"/>
              <a:t>GitHub </a:t>
            </a:r>
            <a:r>
              <a:rPr lang="zh-CN" altLang="en-US" dirty="0"/>
              <a:t>仓库中拉取 </a:t>
            </a:r>
            <a:r>
              <a:rPr lang="en" altLang="zh-CN" dirty="0"/>
              <a:t>PR</a:t>
            </a:r>
            <a:r>
              <a:rPr lang="zh-CN" altLang="en" dirty="0"/>
              <a:t>，</a:t>
            </a:r>
            <a:r>
              <a:rPr lang="zh-CN" altLang="en-US" dirty="0"/>
              <a:t>并生成标准化的 </a:t>
            </a:r>
            <a:r>
              <a:rPr lang="en" altLang="zh-CN" dirty="0"/>
              <a:t>JSON </a:t>
            </a:r>
            <a:r>
              <a:rPr lang="zh-CN" altLang="en-US" dirty="0"/>
              <a:t>文件存储在指定目录中。当目录中不存在记录时，技能会拉取新的 </a:t>
            </a:r>
            <a:r>
              <a:rPr lang="en" altLang="zh-CN" dirty="0"/>
              <a:t>PR</a:t>
            </a:r>
            <a:r>
              <a:rPr lang="zh-CN" altLang="en" dirty="0"/>
              <a:t>；</a:t>
            </a:r>
            <a:r>
              <a:rPr lang="zh-CN" altLang="en-US" dirty="0"/>
              <a:t>当已有记录存在时，优先进行更新；若未检测到近期记录，则默认获取此前尚未收集的 </a:t>
            </a:r>
            <a:r>
              <a:rPr lang="en" altLang="zh-CN" dirty="0"/>
              <a:t>PR</a:t>
            </a:r>
            <a:r>
              <a:rPr lang="zh-CN" altLang="en" dirty="0"/>
              <a:t>。</a:t>
            </a:r>
            <a:r>
              <a:rPr lang="zh-CN" altLang="en-US" dirty="0"/>
              <a:t>该技能完全基于文件夹中是否存在文件以及用户的提示词进行工作，所有路径和拉取数量均可通过提示词进行配置。</a:t>
            </a:r>
            <a:endParaRPr lang="en-US" altLang="zh-CN" dirty="0"/>
          </a:p>
          <a:p>
            <a:endParaRPr lang="zh-CN" altLang="en-US" dirty="0"/>
          </a:p>
          <a:p>
            <a:r>
              <a:rPr lang="en" altLang="zh-CN" b="1" dirty="0"/>
              <a:t>form-rules</a:t>
            </a:r>
            <a:r>
              <a:rPr lang="zh-CN" altLang="en" dirty="0"/>
              <a:t>：</a:t>
            </a:r>
            <a:r>
              <a:rPr lang="zh-CN" altLang="en-US" dirty="0"/>
              <a:t>对批量 </a:t>
            </a:r>
            <a:r>
              <a:rPr lang="en" altLang="zh-CN" dirty="0"/>
              <a:t>PR JSON </a:t>
            </a:r>
            <a:r>
              <a:rPr lang="zh-CN" altLang="en-US" dirty="0"/>
              <a:t>进行规则抽象，生成中层规则并按严重程度进行分类，按照统一模板输出，同时记录完整的元数据日志。所有操作均遵循去标识化原则，以保证规则的泛化能力。系统默认引入以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/>
              <a:t>smell</a:t>
            </a:r>
            <a:r>
              <a:rPr lang="zh-CN" altLang="en-US"/>
              <a:t>为主</a:t>
            </a:r>
            <a:r>
              <a:rPr lang="zh-CN" altLang="en-US" dirty="0"/>
              <a:t>的参考规则，将指导从单纯的代码层问题提升至架构层面；同时也支持用户提供自定义参考来源。</a:t>
            </a:r>
            <a:endParaRPr lang="en-US" altLang="zh-CN" dirty="0"/>
          </a:p>
          <a:p>
            <a:endParaRPr lang="zh-CN" altLang="en-US" dirty="0"/>
          </a:p>
          <a:p>
            <a:r>
              <a:rPr lang="en" altLang="zh-CN" b="1" dirty="0"/>
              <a:t>preview</a:t>
            </a:r>
            <a:r>
              <a:rPr lang="zh-CN" altLang="en" dirty="0"/>
              <a:t>：</a:t>
            </a:r>
            <a:r>
              <a:rPr lang="zh-CN" altLang="en-US" dirty="0"/>
              <a:t>将本地代码差异与已生成的规则进行匹配，输出可执行的预览报告，标注潜在问题与改进空间。两类元技能用于支持新技能的设计与安装，从而保证系统的可扩展性与复用性。</a:t>
            </a:r>
          </a:p>
          <a:p>
            <a:r>
              <a:rPr lang="zh-CN" altLang="en-US" dirty="0"/>
              <a:t>在实际使用中，开发者可以自由指定拉取的 </a:t>
            </a:r>
            <a:r>
              <a:rPr lang="en" altLang="zh-CN" dirty="0"/>
              <a:t>PR </a:t>
            </a:r>
            <a:r>
              <a:rPr lang="zh-CN" altLang="en-US" dirty="0"/>
              <a:t>数量、文件夹路径以及自定义模板。系统会自主决定需要执行哪些技能、读取哪些目录以及整体的执行流程。通过规则日志与批量管理机制，用户可以清晰追溯规则的来源与演化过程，从而实现自动化的预审流程，减少人工错误，并支持渐进式扩展与多项目适配，体现了系统的智能性与通用性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2581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为了验证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的质量 和参考以及</a:t>
            </a:r>
            <a:r>
              <a:rPr kumimoji="1" lang="en-US" altLang="zh-CN" dirty="0"/>
              <a:t>skill</a:t>
            </a:r>
            <a:r>
              <a:rPr kumimoji="1" lang="zh-CN" altLang="en-US" dirty="0"/>
              <a:t>内置的规则对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的影响，</a:t>
            </a:r>
            <a:endParaRPr kumimoji="1" lang="en-US" altLang="zh-CN" dirty="0"/>
          </a:p>
          <a:p>
            <a:r>
              <a:rPr kumimoji="1" lang="zh-CN" altLang="en-US" dirty="0"/>
              <a:t>分成三组，直接生成</a:t>
            </a:r>
            <a:r>
              <a:rPr kumimoji="1" lang="en-US" altLang="zh-CN" dirty="0"/>
              <a:t>/</a:t>
            </a:r>
            <a:r>
              <a:rPr kumimoji="1" lang="zh-CN" altLang="en-US" dirty="0"/>
              <a:t>按照</a:t>
            </a:r>
            <a:r>
              <a:rPr kumimoji="1" lang="en-US" altLang="zh-CN" dirty="0"/>
              <a:t>skill</a:t>
            </a:r>
            <a:r>
              <a:rPr kumimoji="1" lang="zh-CN" altLang="en-US" dirty="0"/>
              <a:t>描述生成</a:t>
            </a:r>
            <a:r>
              <a:rPr kumimoji="1" lang="en-US" altLang="zh-CN" dirty="0"/>
              <a:t>/</a:t>
            </a:r>
            <a:r>
              <a:rPr kumimoji="1" lang="zh-CN" altLang="en-US" dirty="0"/>
              <a:t>按照引用生成</a:t>
            </a:r>
            <a:endParaRPr kumimoji="1" lang="en-US" altLang="zh-CN" dirty="0"/>
          </a:p>
          <a:p>
            <a:r>
              <a:rPr kumimoji="1" lang="en-US" altLang="zh-CN" dirty="0"/>
              <a:t>codex</a:t>
            </a:r>
            <a:r>
              <a:rPr kumimoji="1" lang="zh-CN" altLang="en-US" dirty="0"/>
              <a:t>打分 满分</a:t>
            </a:r>
            <a:r>
              <a:rPr kumimoji="1" lang="en-US" altLang="zh-CN" dirty="0"/>
              <a:t>10</a:t>
            </a:r>
            <a:r>
              <a:rPr kumimoji="1" lang="zh-CN" altLang="en-US" dirty="0"/>
              <a:t>分 正确性真实性</a:t>
            </a:r>
            <a:r>
              <a:rPr kumimoji="1" lang="en-US" altLang="zh-CN" dirty="0"/>
              <a:t>4</a:t>
            </a:r>
            <a:r>
              <a:rPr kumimoji="1" lang="zh-CN" altLang="en-US" dirty="0"/>
              <a:t>，工程可操作性</a:t>
            </a:r>
            <a:r>
              <a:rPr kumimoji="1" lang="en-US" altLang="zh-CN" dirty="0"/>
              <a:t>3</a:t>
            </a:r>
            <a:r>
              <a:rPr kumimoji="1" lang="zh-CN" altLang="en-US" dirty="0"/>
              <a:t>，无上下文可读性</a:t>
            </a:r>
            <a:r>
              <a:rPr kumimoji="1" lang="en-US" altLang="zh-CN" dirty="0"/>
              <a:t>3</a:t>
            </a:r>
          </a:p>
          <a:p>
            <a:r>
              <a:rPr kumimoji="1" lang="zh-CN" altLang="en-US" dirty="0"/>
              <a:t>第三组得分最高</a:t>
            </a:r>
            <a:endParaRPr kumimoji="1" lang="en-US" altLang="zh-CN" dirty="0"/>
          </a:p>
          <a:p>
            <a:r>
              <a:rPr kumimoji="1" lang="zh-CN" altLang="en-US" dirty="0"/>
              <a:t>（这些图像都是</a:t>
            </a:r>
            <a:r>
              <a:rPr kumimoji="1" lang="en-US" altLang="zh-CN" dirty="0"/>
              <a:t>codex</a:t>
            </a:r>
            <a:r>
              <a:rPr kumimoji="1" lang="zh-CN" altLang="en-US" dirty="0"/>
              <a:t>根据已有数据和我的指令生成的）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0408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对第三组中引用的质量进行测试，分成三个等级</a:t>
            </a:r>
            <a:endParaRPr kumimoji="1" lang="en-US" altLang="zh-CN" dirty="0"/>
          </a:p>
          <a:p>
            <a:r>
              <a:rPr kumimoji="1" lang="en-US" altLang="zh-CN" dirty="0"/>
              <a:t>Codex</a:t>
            </a:r>
            <a:r>
              <a:rPr kumimoji="1" lang="zh-CN" altLang="en-US" dirty="0"/>
              <a:t>对第三组中生成的规则的引用部分进行评分</a:t>
            </a:r>
            <a:endParaRPr kumimoji="1" lang="en-US" altLang="zh-CN" dirty="0"/>
          </a:p>
          <a:p>
            <a:r>
              <a:rPr kumimoji="1" lang="zh-CN" altLang="en-US" dirty="0"/>
              <a:t>（描述图像）</a:t>
            </a:r>
            <a:endParaRPr kumimoji="1" lang="en-US" altLang="zh-CN" dirty="0"/>
          </a:p>
          <a:p>
            <a:r>
              <a:rPr kumimoji="1" lang="zh-CN" altLang="en-US" dirty="0"/>
              <a:t>总体而言，效果达到预期（至少一半以上的是高效引用）</a:t>
            </a:r>
            <a:endParaRPr kumimoji="1" lang="en-US" altLang="zh-CN" dirty="0"/>
          </a:p>
          <a:p>
            <a:r>
              <a:rPr kumimoji="1" lang="zh-CN" altLang="en-US" dirty="0"/>
              <a:t>限制于</a:t>
            </a:r>
            <a:r>
              <a:rPr kumimoji="1" lang="en-US" altLang="zh-CN" dirty="0"/>
              <a:t>ref</a:t>
            </a:r>
            <a:r>
              <a:rPr kumimoji="1" lang="zh-CN" altLang="en-US" dirty="0"/>
              <a:t>本身和</a:t>
            </a:r>
            <a:r>
              <a:rPr kumimoji="1" lang="en-US" altLang="zh-CN" dirty="0" err="1"/>
              <a:t>github</a:t>
            </a:r>
            <a:r>
              <a:rPr kumimoji="1" lang="zh-CN" altLang="en-US" dirty="0"/>
              <a:t>库，可通过更匹配的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ref</a:t>
            </a:r>
            <a:r>
              <a:rPr kumimoji="1" lang="zh-CN" altLang="en-US" dirty="0"/>
              <a:t>和交叉归纳来提升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110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9832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1.Vibe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coding</a:t>
            </a:r>
            <a:r>
              <a:rPr kumimoji="1" lang="zh-CN" altLang="en-US" dirty="0"/>
              <a:t>大幅度提升了代码产出的效率，能在很短的时间内产出大量的内容。这也对人提出了要求：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prompt</a:t>
            </a:r>
            <a:r>
              <a:rPr kumimoji="1" lang="zh-CN" altLang="en-US" dirty="0"/>
              <a:t>描述。</a:t>
            </a:r>
            <a:r>
              <a:rPr kumimoji="1" lang="en-US" altLang="zh-CN" dirty="0"/>
              <a:t>-</a:t>
            </a:r>
            <a:r>
              <a:rPr kumimoji="1" lang="zh-CN" altLang="en-US" dirty="0"/>
              <a:t> 检查错误的能力。</a:t>
            </a:r>
            <a:r>
              <a:rPr kumimoji="1" lang="en-US" altLang="zh-CN" dirty="0"/>
              <a:t>-</a:t>
            </a:r>
            <a:r>
              <a:rPr kumimoji="1" lang="zh-CN" altLang="en-US" dirty="0"/>
              <a:t>架构师思维。</a:t>
            </a:r>
            <a:endParaRPr kumimoji="1" lang="en-US" altLang="zh-CN" dirty="0"/>
          </a:p>
          <a:p>
            <a:r>
              <a:rPr kumimoji="1" lang="zh-CN" altLang="en-US" dirty="0"/>
              <a:t>代码本身实现的比重在降低，重点是做什么，不是怎么做</a:t>
            </a:r>
            <a:endParaRPr kumimoji="1" lang="en-US" altLang="zh-CN" dirty="0"/>
          </a:p>
          <a:p>
            <a:r>
              <a:rPr kumimoji="1" lang="zh-CN" altLang="en-US" dirty="0"/>
              <a:t>前一阵子火起来的</a:t>
            </a:r>
            <a:r>
              <a:rPr kumimoji="1" lang="en-US" altLang="zh-CN" dirty="0" err="1"/>
              <a:t>clawbot</a:t>
            </a:r>
            <a:r>
              <a:rPr kumimoji="1" lang="zh-CN" altLang="en-US" dirty="0"/>
              <a:t>实现了在电脑甚至手机终端的对话（获取访问设备文件的能力，替你发信息回邮件）从</a:t>
            </a:r>
            <a:r>
              <a:rPr kumimoji="1" lang="en-US" altLang="zh-CN" dirty="0"/>
              <a:t>ai</a:t>
            </a:r>
            <a:r>
              <a:rPr kumimoji="1" lang="zh-CN" altLang="en-US" dirty="0"/>
              <a:t>网页对话框的时代到</a:t>
            </a:r>
            <a:r>
              <a:rPr kumimoji="1" lang="en-US" altLang="zh-CN" dirty="0"/>
              <a:t>ai</a:t>
            </a:r>
            <a:r>
              <a:rPr kumimoji="1" lang="zh-CN" altLang="en-US" dirty="0"/>
              <a:t>智能体部署时代</a:t>
            </a:r>
            <a:endParaRPr kumimoji="1" lang="en-US" altLang="zh-CN" dirty="0"/>
          </a:p>
          <a:p>
            <a:r>
              <a:rPr kumimoji="1" lang="zh-CN" altLang="en-US" dirty="0"/>
              <a:t>对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的限制和管理很重要（误删文件事件造成损失），信息安全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团队合作 这几周的实习以来，体会到了团队乃至公司的专业氛围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包括站会，讨论等等，实时沟通进度，公开化透明化，高效交流和讨论错误等等；让我体验到在专业的职场氛围下，工程师们应该如何团队合作，解决问题。</a:t>
            </a:r>
            <a:endParaRPr kumimoji="1" lang="en-US" altLang="zh-CN" dirty="0"/>
          </a:p>
          <a:p>
            <a:r>
              <a:rPr kumimoji="1" lang="zh-CN" altLang="en-US" dirty="0"/>
              <a:t>在此也感谢带我的两位</a:t>
            </a:r>
            <a:r>
              <a:rPr kumimoji="1" lang="en-US" altLang="zh-CN" dirty="0"/>
              <a:t>mentor</a:t>
            </a:r>
            <a:r>
              <a:rPr kumimoji="1" lang="zh-CN" altLang="en-US" dirty="0"/>
              <a:t>，他们都非常专业，我学习到了很多有用的东西。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3.</a:t>
            </a:r>
            <a:r>
              <a:rPr kumimoji="1" lang="zh-CN" altLang="en-US" dirty="0"/>
              <a:t>工程本身角度，架构的重要性（</a:t>
            </a:r>
            <a:r>
              <a:rPr kumimoji="1" lang="en-US" altLang="zh-CN" dirty="0"/>
              <a:t>skill</a:t>
            </a:r>
            <a:r>
              <a:rPr kumimoji="1" lang="zh-CN" altLang="en-US" dirty="0"/>
              <a:t>的原子化，版本的更新迭代）。</a:t>
            </a:r>
            <a:r>
              <a:rPr kumimoji="1" lang="en-US" altLang="zh-CN" dirty="0"/>
              <a:t>Yuran</a:t>
            </a:r>
            <a:r>
              <a:rPr kumimoji="1" lang="zh-CN" altLang="en-US" dirty="0"/>
              <a:t>告诉我的：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。从一开始的工程师思维转到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思维（把东西交给</a:t>
            </a:r>
            <a:r>
              <a:rPr kumimoji="1" lang="en-US" altLang="zh-CN" dirty="0"/>
              <a:t>ai</a:t>
            </a:r>
            <a:r>
              <a:rPr kumimoji="1" lang="zh-CN" altLang="en-US" dirty="0"/>
              <a:t>让它判断怎么做），转变过程比较长（我也没有完全转变过来），但这也是未来的一个趋势。这也提升了</a:t>
            </a:r>
            <a:r>
              <a:rPr kumimoji="1" lang="en-US" altLang="zh-CN" dirty="0"/>
              <a:t>prompt</a:t>
            </a:r>
            <a:r>
              <a:rPr kumimoji="1" lang="zh-CN" altLang="en-US" dirty="0"/>
              <a:t>和架构的重要性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4.</a:t>
            </a:r>
            <a:r>
              <a:rPr kumimoji="1" lang="zh-CN" altLang="en-US" dirty="0"/>
              <a:t>如何讲好一个故事</a:t>
            </a:r>
            <a:r>
              <a:rPr kumimoji="1" lang="en-US" altLang="zh-CN" dirty="0"/>
              <a:t>——less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less</a:t>
            </a:r>
            <a:r>
              <a:rPr kumimoji="1" lang="zh-CN" altLang="en-US" dirty="0"/>
              <a:t>，图表和数字比一长段对话更加有说服力。把简单的东西讲的复杂很容易，但是把复杂的东西讲的简单就没那么容易。把专业的东西讲的小白化，是很重要的一点，因为这从侧面也反映了理解深度和抽象能力。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2062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78F08-4157-B84C-8317-7DE05F8F726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017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88EE2-CD26-A96E-4AF4-C4CD18559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23D2ED-9681-1E99-89EE-DE8CD6C09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88A02F-A479-29E5-66EE-2A0E0952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53E52-FC99-7F01-7D9B-7225124C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BB281A-3712-634B-833C-EFEF8CD3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621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74233-7E01-0094-48E7-E6A146F3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73E5B-F452-7FC4-FB61-35D18213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0CC05-E1D1-6748-E970-9943A580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12AE5-7625-6D3F-5760-3F5BA64C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82D66E-17F5-F93E-E1F1-1B722173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99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79D3F-DADC-73E8-863D-0A12E552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26709E-9AC3-30C1-7ED4-6E0F086B7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35D7F-F139-1C4B-5DE1-3D85372C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C2CB0-D083-0163-B548-5BEAD459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1971C-3522-5C05-C080-522F9A96B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258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BB875-0BA0-BE57-1310-8A4B277E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58245-AFCC-64CC-55C5-6147821DF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69A62D-CC7F-A5C6-6C25-A2B3D14A8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17F1D8-ACC4-BB28-A586-B239585E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9A369D-CE9F-BF7F-D432-293BB97F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5094D6-B0F6-2C5F-8525-303FE6F7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710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50702-9C7E-07CD-3D3C-89908D3F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CBABFA-743D-533C-343F-7E1E1E731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C0F651-553F-BA14-36F4-A00C74916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F2B51C-C6DA-C7D5-9F69-0CD470998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AA3498-31B3-B146-9C79-8F0B4C85E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3FBC15-B77C-C3A5-BBF9-84629183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2E69A1-B366-EB9C-BD1C-7D3AB398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6EE16D-DF17-A398-8625-6B8571C8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340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BE9AB-4E04-FA5A-ED08-F938A3D4A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054D95-796D-AC36-92CE-0CE35004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5C7996-272B-EDEC-F391-C5DE5831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FA5071-CC31-BDF6-6201-31117468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467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97A7F7-57E2-2AB8-241E-9C309761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97532D-D9ED-DAFA-A535-EC49896E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F943DE-6AAF-EDC8-1D6D-C9B6F1DF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19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FAC5D-5905-897E-EED5-6AA438B1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488F3-421A-48D7-79AC-08FE9D418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5E3C34-5BE9-5BB2-0381-18B4B84A6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F7E950-B56F-8720-5356-2CC44729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AE94AC-BE84-E891-FF0C-44D0C970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51215B-360E-E242-894B-C0098769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186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D0289-09B2-1D9C-7901-6FEFBC55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B19EF1-1666-6527-B39E-27A5A7CBF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4B2D79-5BF1-BC97-66C6-D1A9E1D8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A7BF80-2CF4-FB39-DE4D-3797962E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D46F3-BF9D-5253-7D3F-46A0B78F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8ACDD4-499E-4C92-29CB-F2C5CD7A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243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82F21-6B89-E549-0CA9-040EDD7C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2F20C6-1D5F-8394-C5D0-0126CCD0D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67743-6A48-3097-CE42-9561B1B0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FCF450-DEEC-BDC5-FD3F-3C768936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D9FA7F-C2EF-BFCD-6E0A-18DAE429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395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EE43B2-F47B-CE49-CC12-A73AC0A0C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D16F5D-F0C1-9119-D0FB-C50D6EA16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85934-BE89-05E4-D46A-30EFCCCD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F86728-7317-ACF7-BA00-75282910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76E9E-D51B-7E48-74C5-0317978F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349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BD672CB-1103-514E-2EB6-875B4B9365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3934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D672CB-1103-514E-2EB6-875B4B9365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732006-D05E-F4B5-5844-52353FD7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B264B-806A-5A5C-5628-1655BAF9D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574B6D-B853-CFDE-F355-42DFA9BEB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41213-EF83-4346-BD40-458588DE8C7A}" type="datetimeFigureOut">
              <a:rPr kumimoji="1" lang="zh-CN" altLang="en-US" smtClean="0"/>
              <a:t>2026/2/5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C5FC26-FFA6-6CD1-B3E1-33502B222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71C06D-EB29-2899-0A1E-80B37FBC0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744F9-772E-5648-9A24-2D8819BD3B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824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11.08883?utm_source=chatgpt.com" TargetMode="External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11" Type="http://schemas.openxmlformats.org/officeDocument/2006/relationships/hyperlink" Target="https://aclanthology.org/2025.findings-acl.698/?utm_source=chatgpt.com" TargetMode="External"/><Relationship Id="rId5" Type="http://schemas.openxmlformats.org/officeDocument/2006/relationships/image" Target="../media/image6.emf"/><Relationship Id="rId10" Type="http://schemas.openxmlformats.org/officeDocument/2006/relationships/hyperlink" Target="https://arxiv.org/abs/2503.22731?utm_source=chatgpt.com" TargetMode="External"/><Relationship Id="rId4" Type="http://schemas.openxmlformats.org/officeDocument/2006/relationships/oleObject" Target="../embeddings/oleObject3.bin"/><Relationship Id="rId9" Type="http://schemas.openxmlformats.org/officeDocument/2006/relationships/hyperlink" Target="https://arxiv.org/abs/2502.16169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B5CB302-5979-FEF9-8DB5-7737449302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28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7772400" imgH="10058400" progId="TCLayout.ActiveDocument.1">
                  <p:embed/>
                </p:oleObj>
              </mc:Choice>
              <mc:Fallback>
                <p:oleObj name="think-cell 幻灯片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5CB302-5979-FEF9-8DB5-7737449302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7410631-5A8B-460D-D0EF-82DBFD263B56}"/>
              </a:ext>
            </a:extLst>
          </p:cNvPr>
          <p:cNvSpPr txBox="1"/>
          <p:nvPr/>
        </p:nvSpPr>
        <p:spPr>
          <a:xfrm>
            <a:off x="559429" y="3829882"/>
            <a:ext cx="11281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200" b="1" dirty="0">
                <a:solidFill>
                  <a:schemeClr val="bg1"/>
                </a:solidFill>
              </a:rPr>
              <a:t>Auto-Previewer: An LLM-Agent–Driven System for Automated PR Review via Project-Specific Rule Generation</a:t>
            </a:r>
            <a:endParaRPr lang="en" altLang="zh-CN" sz="3000" b="1" dirty="0">
              <a:solidFill>
                <a:schemeClr val="bg1"/>
              </a:solidFill>
              <a:latin typeface="BMWTypeNext Latin Regular" pitchFamily="2" charset="0"/>
            </a:endParaRPr>
          </a:p>
        </p:txBody>
      </p:sp>
      <p:pic>
        <p:nvPicPr>
          <p:cNvPr id="6" name="图片 5" descr="图标&#10;&#10;描述已自动生成">
            <a:extLst>
              <a:ext uri="{FF2B5EF4-FFF2-40B4-BE49-F238E27FC236}">
                <a16:creationId xmlns:a16="http://schemas.microsoft.com/office/drawing/2014/main" id="{C1091D53-3696-628E-ACBF-751F1A9569C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430" y="557939"/>
            <a:ext cx="1399646" cy="6389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E10C68-33B6-E30A-117A-02B74C012FE8}"/>
              </a:ext>
            </a:extLst>
          </p:cNvPr>
          <p:cNvSpPr txBox="1"/>
          <p:nvPr/>
        </p:nvSpPr>
        <p:spPr>
          <a:xfrm>
            <a:off x="688292" y="5095004"/>
            <a:ext cx="1081541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" altLang="zh-CN" sz="1600" dirty="0">
                <a:solidFill>
                  <a:srgbClr val="FFFFFF"/>
                </a:solidFill>
                <a:effectLst/>
                <a:latin typeface="BMWTypeNext Latin Regular" pitchFamily="2" charset="0"/>
              </a:rPr>
              <a:t>Presenter: Marina Huang								2026.2.6</a:t>
            </a:r>
            <a:endParaRPr lang="en" altLang="zh-CN" sz="1600">
              <a:solidFill>
                <a:srgbClr val="FFFFFF"/>
              </a:solidFill>
              <a:effectLst/>
              <a:latin typeface="BMWTypeNext Latin Regular" pitchFamily="2" charset="0"/>
            </a:endParaRPr>
          </a:p>
          <a:p>
            <a:r>
              <a:rPr lang="en" altLang="zh-CN" sz="1600">
                <a:solidFill>
                  <a:srgbClr val="FFFFFF"/>
                </a:solidFill>
                <a:latin typeface="BMWTypeNext Latin Regular"/>
                <a:ea typeface="等线"/>
              </a:rPr>
              <a:t>Mentor : Yuran Ou</a:t>
            </a:r>
            <a:endParaRPr lang="en" altLang="zh-CN" sz="1600">
              <a:solidFill>
                <a:srgbClr val="FFFFFF"/>
              </a:solidFill>
              <a:latin typeface="BMWTypeNext Latin Regular" pitchFamily="2" charset="0"/>
              <a:ea typeface="等线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EBDB5B-103C-232D-C3B2-CBFE9041635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7835" y="5960016"/>
            <a:ext cx="2944735" cy="3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0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8AF7-33C8-B0D6-381A-0B89694D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E9882F6-41B7-CCE3-D7CA-B111B734DD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9882F6-41B7-CCE3-D7CA-B111B734D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7411112-8EC3-1804-B5B5-F7D2CC80913F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>
                <a:solidFill>
                  <a:srgbClr val="000000"/>
                </a:solidFill>
                <a:latin typeface="BMWTypeNext Latin Regular"/>
                <a:ea typeface="等线"/>
              </a:rPr>
              <a:t>Content</a:t>
            </a:r>
            <a:endParaRPr lang="en" altLang="zh-CN" sz="4000" dirty="0">
              <a:latin typeface="BMWTypeNext Latin Regular"/>
              <a:ea typeface="等线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E27ECC-E659-A942-7DF8-D25AA549020C}"/>
              </a:ext>
            </a:extLst>
          </p:cNvPr>
          <p:cNvSpPr txBox="1"/>
          <p:nvPr/>
        </p:nvSpPr>
        <p:spPr>
          <a:xfrm>
            <a:off x="1290318" y="1420949"/>
            <a:ext cx="104482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3200" dirty="0">
                <a:effectLst/>
                <a:latin typeface="BMWTypeNext Latin Regular" pitchFamily="2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3200" dirty="0">
                <a:latin typeface="BMWTypeNext Latin Regular" pitchFamily="2" charset="0"/>
              </a:rPr>
              <a:t>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3200" dirty="0">
                <a:latin typeface="BMWTypeNext Latin Regular" pitchFamily="2" charset="0"/>
              </a:rPr>
              <a:t>Experiment</a:t>
            </a:r>
            <a:endParaRPr lang="en" altLang="zh-CN" sz="3200" dirty="0">
              <a:effectLst/>
              <a:latin typeface="BMWTypeNext Latin Regular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3200" dirty="0">
                <a:effectLst/>
                <a:latin typeface="BMWTypeNext Latin Regular" pitchFamily="2" charset="0"/>
              </a:rPr>
              <a:t>Future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3200" dirty="0">
                <a:latin typeface="BMWTypeNext Latin Regular" pitchFamily="2" charset="0"/>
              </a:rPr>
              <a:t>Conclusion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099D59-7752-AD64-D687-BCA307E9E2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14D63E-EC19-5770-E250-D5BA94754B6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ACAA064-3E3F-A4B4-D04C-8FFC3E0128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CAA064-3E3F-A4B4-D04C-8FFC3E0128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624731E-98D5-835B-1EF4-197D96E9C5DC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Introduction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CED7785-565D-11D5-0A9C-A3F2913150E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8B2AEC2-C3BE-3147-5D32-832B38430346}"/>
              </a:ext>
            </a:extLst>
          </p:cNvPr>
          <p:cNvSpPr txBox="1"/>
          <p:nvPr/>
        </p:nvSpPr>
        <p:spPr>
          <a:xfrm>
            <a:off x="404427" y="3934270"/>
            <a:ext cx="11007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" altLang="zh-CN" sz="2000" dirty="0"/>
            </a:br>
            <a:endParaRPr kumimoji="1"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656C58-8F31-05B5-81C7-C6EF42D83039}"/>
              </a:ext>
            </a:extLst>
          </p:cNvPr>
          <p:cNvSpPr txBox="1"/>
          <p:nvPr/>
        </p:nvSpPr>
        <p:spPr>
          <a:xfrm>
            <a:off x="1021081" y="1478280"/>
            <a:ext cx="1063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b="1" dirty="0"/>
              <a:t>In projects, code will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be</a:t>
            </a:r>
            <a:r>
              <a:rPr lang="en" altLang="zh-CN" sz="2400" b="1" dirty="0"/>
              <a:t> reviewed by human reviewers before merging to ensure that the submitted changes meet the project’s quality standards.</a:t>
            </a:r>
            <a:endParaRPr kumimoji="1" lang="zh-CN" altLang="en-US" sz="2400" b="1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0355C008-F651-62CF-8057-451C23376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318" y="2516490"/>
            <a:ext cx="10227792" cy="373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7">
            <a:extLst>
              <a:ext uri="{FF2B5EF4-FFF2-40B4-BE49-F238E27FC236}">
                <a16:creationId xmlns:a16="http://schemas.microsoft.com/office/drawing/2014/main" id="{9557EC75-BC99-05B9-481D-861C135C3DB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7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4A0A369-6508-6E1F-1F69-ECA10C45AFE6}"/>
              </a:ext>
            </a:extLst>
          </p:cNvPr>
          <p:cNvSpPr txBox="1"/>
          <p:nvPr/>
        </p:nvSpPr>
        <p:spPr>
          <a:xfrm>
            <a:off x="847373" y="4377165"/>
            <a:ext cx="107289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 dirty="0"/>
              <a:t>Code review is inherently labor-intensive; </a:t>
            </a:r>
          </a:p>
          <a:p>
            <a:endParaRPr lang="en" altLang="zh-CN" dirty="0"/>
          </a:p>
          <a:p>
            <a:r>
              <a:rPr lang="en" altLang="zh-CN" sz="2000" b="1" dirty="0"/>
              <a:t>an AI-assisted automated pre-review system 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needed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to</a:t>
            </a:r>
            <a:r>
              <a:rPr lang="zh-CN" altLang="en-US" sz="2000" b="1" dirty="0"/>
              <a:t> </a:t>
            </a:r>
            <a:r>
              <a:rPr lang="en" altLang="zh-CN" sz="2000" b="1" dirty="0"/>
              <a:t>free reviewers from repetitive rule enforcement, allowing them to focus on genuine logical and design issues</a:t>
            </a:r>
            <a:r>
              <a:rPr lang="en" altLang="zh-CN" sz="2400" b="1" dirty="0"/>
              <a:t>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99F08D-121F-F442-2ED2-EADCB4D979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E5C74C-0732-D011-6151-12E58B5B44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BCF2AEF-1945-EF6E-2F94-F42FFB6E9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90" y="563880"/>
            <a:ext cx="11454559" cy="349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83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FC55-B96F-23D5-0C68-5BF77846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3D24744-B705-518C-2A97-6044ADF7CA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D24744-B705-518C-2A97-6044ADF7CA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7FF3470-E75D-253D-FB4A-004A45598C94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Workflow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52D52C-AD03-0026-292B-BD2FB27271F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BAD420-0885-2DB4-6E88-EECFE43CD1B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2D3724E0-6703-2793-62A9-E93E5D5FA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1" t="44737"/>
          <a:stretch>
            <a:fillRect/>
          </a:stretch>
        </p:blipFill>
        <p:spPr bwMode="auto">
          <a:xfrm>
            <a:off x="1847146" y="1310253"/>
            <a:ext cx="8119814" cy="554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D4BF2C-2BA3-F047-BF3A-6E7C71E4E592}"/>
              </a:ext>
            </a:extLst>
          </p:cNvPr>
          <p:cNvSpPr txBox="1"/>
          <p:nvPr/>
        </p:nvSpPr>
        <p:spPr>
          <a:xfrm>
            <a:off x="1184318" y="1136510"/>
            <a:ext cx="10637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b="1" dirty="0"/>
              <a:t>Before human review, an Auto Previewer checks PRs against team rules and lets only passing ones proceed, reducing reviewer workload.</a:t>
            </a:r>
          </a:p>
        </p:txBody>
      </p:sp>
    </p:spTree>
    <p:extLst>
      <p:ext uri="{BB962C8B-B14F-4D97-AF65-F5344CB8AC3E}">
        <p14:creationId xmlns:p14="http://schemas.microsoft.com/office/powerpoint/2010/main" val="251348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8CAF-A121-13E7-FEF1-347015C2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1450ED-FCC0-A81A-212D-15CB28D139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1450ED-FCC0-A81A-212D-15CB28D13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2B0A2FE-6736-5561-4261-8919D699280F}"/>
              </a:ext>
            </a:extLst>
          </p:cNvPr>
          <p:cNvSpPr txBox="1"/>
          <p:nvPr/>
        </p:nvSpPr>
        <p:spPr>
          <a:xfrm>
            <a:off x="1184318" y="428985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Theory</a:t>
            </a:r>
            <a:r>
              <a:rPr lang="en-US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: </a:t>
            </a:r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LLM</a:t>
            </a:r>
            <a:r>
              <a:rPr lang="zh-CN" altLang="en-US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 </a:t>
            </a:r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rule</a:t>
            </a:r>
            <a:r>
              <a:rPr lang="zh-CN" altLang="en-US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 </a:t>
            </a:r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forming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3C7583-F959-1CB6-CB06-723CE10A2C1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29FBB39-58DC-AB05-5C0F-D44B7FB1A90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EA8C965-A075-1AB5-3B30-DE0EDA7DA228}"/>
              </a:ext>
            </a:extLst>
          </p:cNvPr>
          <p:cNvSpPr txBox="1"/>
          <p:nvPr/>
        </p:nvSpPr>
        <p:spPr>
          <a:xfrm>
            <a:off x="2749432" y="5826672"/>
            <a:ext cx="6236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800" b="1" i="1" dirty="0">
                <a:solidFill>
                  <a:srgbClr val="C00000"/>
                </a:solidFill>
              </a:rPr>
              <a:t>Rule abstraction from text is feasible</a:t>
            </a:r>
            <a:r>
              <a:rPr lang="en-US" altLang="zh-CN" sz="2800" b="1" i="1" dirty="0">
                <a:solidFill>
                  <a:srgbClr val="C00000"/>
                </a:solidFill>
              </a:rPr>
              <a:t>.</a:t>
            </a:r>
            <a:endParaRPr kumimoji="1" lang="zh-CN" altLang="en-US" sz="2800" b="1" i="1" dirty="0">
              <a:solidFill>
                <a:srgbClr val="C00000"/>
              </a:solidFill>
            </a:endParaRP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94E4DF78-72D7-0464-F57E-EC2EA2E7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600" y="1284287"/>
            <a:ext cx="8578850" cy="428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7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12DC-3F62-5373-5F9C-EA89D731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0FB4349-9262-124F-BEB1-2ED199029D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FB4349-9262-124F-BEB1-2ED199029D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B16C2A1-C03B-BE38-A3A6-D03A24291C69}"/>
              </a:ext>
            </a:extLst>
          </p:cNvPr>
          <p:cNvSpPr txBox="1"/>
          <p:nvPr/>
        </p:nvSpPr>
        <p:spPr>
          <a:xfrm>
            <a:off x="1184318" y="428985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Theory: agent</a:t>
            </a:r>
            <a:r>
              <a:rPr lang="zh-CN" altLang="en-US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 </a:t>
            </a:r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and</a:t>
            </a:r>
            <a:r>
              <a:rPr lang="zh-CN" altLang="en-US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 </a:t>
            </a:r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skills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E8E417-62D2-4504-64A5-15C0B3B175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FDD20A-BBC9-9481-446A-F8C7AF93FC5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C1D6B74-5EC4-C374-894C-FE114388AFB6}"/>
              </a:ext>
            </a:extLst>
          </p:cNvPr>
          <p:cNvSpPr txBox="1"/>
          <p:nvPr/>
        </p:nvSpPr>
        <p:spPr>
          <a:xfrm>
            <a:off x="8339252" y="798659"/>
            <a:ext cx="3448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WHAT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IS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AGENT</a:t>
            </a:r>
            <a:r>
              <a:rPr kumimoji="1" lang="zh-CN" altLang="en-US" b="1" dirty="0">
                <a:solidFill>
                  <a:srgbClr val="C00000"/>
                </a:solidFill>
              </a:rPr>
              <a:t>？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Autonomous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Goal-driven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Context-aware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Iterative decision making</a:t>
            </a:r>
          </a:p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F82118-2671-F764-475C-2D6A29744342}"/>
              </a:ext>
            </a:extLst>
          </p:cNvPr>
          <p:cNvSpPr txBox="1"/>
          <p:nvPr/>
        </p:nvSpPr>
        <p:spPr>
          <a:xfrm>
            <a:off x="8339252" y="3122947"/>
            <a:ext cx="3448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WHAT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IS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SKILL</a:t>
            </a:r>
            <a:r>
              <a:rPr kumimoji="1" lang="zh-CN" altLang="en-US" b="1" dirty="0">
                <a:solidFill>
                  <a:srgbClr val="C00000"/>
                </a:solidFill>
              </a:rPr>
              <a:t>？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Reusable capability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Atomic / Composable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Task-specific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Tool / API / Prompt</a:t>
            </a:r>
          </a:p>
          <a:p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9D4A738-BEDA-D32E-C568-49225A426501}"/>
              </a:ext>
            </a:extLst>
          </p:cNvPr>
          <p:cNvSpPr txBox="1"/>
          <p:nvPr/>
        </p:nvSpPr>
        <p:spPr>
          <a:xfrm>
            <a:off x="260388" y="5316563"/>
            <a:ext cx="11697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800" b="1" i="1" u="sng" dirty="0">
                <a:solidFill>
                  <a:srgbClr val="C00000"/>
                </a:solidFill>
              </a:rPr>
              <a:t>User Goal → Agent Planning → Skill Selection → Execution → Feedback</a:t>
            </a:r>
            <a:endParaRPr kumimoji="1" lang="zh-CN" altLang="en-US" sz="2800" b="1" i="1" u="sng" dirty="0">
              <a:solidFill>
                <a:srgbClr val="C00000"/>
              </a:solidFill>
            </a:endParaRPr>
          </a:p>
        </p:txBody>
      </p:sp>
      <p:pic>
        <p:nvPicPr>
          <p:cNvPr id="7184" name="Picture 16">
            <a:extLst>
              <a:ext uri="{FF2B5EF4-FFF2-40B4-BE49-F238E27FC236}">
                <a16:creationId xmlns:a16="http://schemas.microsoft.com/office/drawing/2014/main" id="{BE8D2A76-6F49-A51C-139E-54ED528DF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318" y="1249121"/>
            <a:ext cx="6914684" cy="374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F08B3126-E0F8-973B-AEEC-CCABCE1F3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735" y="2552985"/>
            <a:ext cx="2316087" cy="111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23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B425-3E2E-83F1-E577-517D8D1E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A812265-E232-1420-8265-1810162BB0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812265-E232-1420-8265-1810162BB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7B640EA-9C5D-DA72-5856-41749E8062B1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Methodology and Implementation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487289-02E4-2E53-CFF9-C22EFC5A7C3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F2B1063-80FD-654C-4670-5846734A8AB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7E522E3-FA03-CC4B-A0AE-7739533E2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471" y="898266"/>
            <a:ext cx="9544211" cy="595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520B5D6-AA63-1125-90A7-40D050FBD6C9}"/>
              </a:ext>
            </a:extLst>
          </p:cNvPr>
          <p:cNvSpPr txBox="1"/>
          <p:nvPr/>
        </p:nvSpPr>
        <p:spPr>
          <a:xfrm>
            <a:off x="7395073" y="1409374"/>
            <a:ext cx="46046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i="1" dirty="0"/>
              <a:t>Highly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automated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and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flexible</a:t>
            </a:r>
            <a:r>
              <a:rPr kumimoji="1" lang="zh-CN" altLang="en-US" b="1" i="1" dirty="0"/>
              <a:t>；</a:t>
            </a:r>
            <a:endParaRPr kumimoji="1" lang="en-US" altLang="zh-CN" b="1" i="1" dirty="0"/>
          </a:p>
          <a:p>
            <a:endParaRPr kumimoji="1" lang="en-US" altLang="zh-CN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i="1" dirty="0"/>
              <a:t>AGENT-FIRST</a:t>
            </a:r>
            <a:r>
              <a:rPr kumimoji="1" lang="zh-CN" altLang="en-US" b="1" i="1" dirty="0"/>
              <a:t>：</a:t>
            </a:r>
            <a:r>
              <a:rPr kumimoji="1" lang="en-US" altLang="zh-CN" b="1" i="1" dirty="0"/>
              <a:t>skills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choosing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and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pipeline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decided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by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agent</a:t>
            </a:r>
            <a:r>
              <a:rPr kumimoji="1" lang="zh-CN" altLang="en-US" b="1" i="1" dirty="0"/>
              <a:t>；</a:t>
            </a:r>
            <a:endParaRPr kumimoji="1" lang="en-US" altLang="zh-CN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i="1" dirty="0"/>
              <a:t>Maintainability</a:t>
            </a:r>
            <a:r>
              <a:rPr lang="zh-CN" altLang="en-US" b="1" i="1" dirty="0"/>
              <a:t>：</a:t>
            </a:r>
            <a:r>
              <a:rPr lang="en" altLang="zh-CN" b="1" i="1" dirty="0" err="1"/>
              <a:t>iterable</a:t>
            </a:r>
            <a:r>
              <a:rPr lang="en" altLang="zh-CN" b="1" i="1" dirty="0"/>
              <a:t> closed-loop system</a:t>
            </a:r>
            <a:endParaRPr kumimoji="1" lang="zh-CN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277076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C86E-540B-B207-2F8C-4EC2AAB33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E450BBC-A5E2-7981-24C7-1261754195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450BBC-A5E2-7981-24C7-126175419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FA09234-91B0-58B8-4007-787AA0A95D0B}"/>
              </a:ext>
            </a:extLst>
          </p:cNvPr>
          <p:cNvSpPr txBox="1"/>
          <p:nvPr/>
        </p:nvSpPr>
        <p:spPr>
          <a:xfrm>
            <a:off x="5268638" y="2882625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DEMO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C3BEFA-AB7B-0CC4-DFB9-D42C0B8020C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DE192A-49EE-23F3-8D68-8C539914489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9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22A2-9355-7C83-6010-7F3A9212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6E5C5A8-D261-962C-2E26-CBDC46F1AF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E5C5A8-D261-962C-2E26-CBDC46F1AF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C81AD92-B63D-E3F5-55D8-3C9CAA7CEAE5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Ablation</a:t>
            </a:r>
            <a:r>
              <a:rPr lang="zh-CN" altLang="en-US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 </a:t>
            </a:r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experiment</a:t>
            </a:r>
            <a:endParaRPr lang="en" altLang="zh-CN" sz="4000" dirty="0">
              <a:latin typeface="BMWTypeNext Latin Regular"/>
              <a:ea typeface="等线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4CEC59-229E-9267-F72F-71FE86BD5B5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FC107FE-7C52-E05C-0FEF-70034100B7F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1F55FED-1664-EEB6-0D27-1E99DA1017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829" y="1516459"/>
            <a:ext cx="5292709" cy="37739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50AC8E8-7A3D-0E26-188C-895F6B400D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0734" y="1516459"/>
            <a:ext cx="4578915" cy="37739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FD90AF5-5CE0-F9EE-C91D-7150C04F3049}"/>
              </a:ext>
            </a:extLst>
          </p:cNvPr>
          <p:cNvSpPr txBox="1"/>
          <p:nvPr/>
        </p:nvSpPr>
        <p:spPr>
          <a:xfrm>
            <a:off x="4859867" y="5892800"/>
            <a:ext cx="467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codex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formed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71857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0B61260-B490-5182-B20B-D0169F9DD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026" y="615950"/>
            <a:ext cx="68453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F005-4966-7BD7-9363-4EA630D2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4E333C8-F2A4-FC74-837B-0FE92A8B4A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E333C8-F2A4-FC74-837B-0FE92A8B4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5769887-8DC8-5838-C66A-0FDAE873295F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Questions</a:t>
            </a:r>
            <a:r>
              <a:rPr lang="zh-CN" altLang="en-US" sz="4000" dirty="0">
                <a:solidFill>
                  <a:srgbClr val="000000"/>
                </a:solidFill>
                <a:latin typeface="BMWTypeNext Latin Regular"/>
                <a:ea typeface="等线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&amp;</a:t>
            </a:r>
            <a:r>
              <a:rPr lang="zh-CN" altLang="en-US" sz="4000" dirty="0">
                <a:solidFill>
                  <a:srgbClr val="000000"/>
                </a:solidFill>
                <a:latin typeface="BMWTypeNext Latin Regular"/>
                <a:ea typeface="等线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Future</a:t>
            </a:r>
            <a:r>
              <a:rPr lang="zh-CN" altLang="en-US" sz="4000" dirty="0">
                <a:solidFill>
                  <a:srgbClr val="000000"/>
                </a:solidFill>
                <a:latin typeface="BMWTypeNext Latin Regular"/>
                <a:ea typeface="等线"/>
              </a:rPr>
              <a:t> </a:t>
            </a:r>
            <a:r>
              <a:rPr lang="en-US" altLang="zh-CN" sz="4000" dirty="0">
                <a:solidFill>
                  <a:srgbClr val="000000"/>
                </a:solidFill>
                <a:latin typeface="BMWTypeNext Latin Regular"/>
                <a:ea typeface="等线"/>
              </a:rPr>
              <a:t>Improvements</a:t>
            </a:r>
            <a:endParaRPr lang="en" altLang="zh-CN" sz="4000" dirty="0">
              <a:latin typeface="BMWTypeNext Latin Regular"/>
              <a:ea typeface="等线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31C985-EEE2-ED31-C71F-DDB4485EDA0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01BBA1-DA18-585F-7AA6-60D63F1A33D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EE48799-9011-7ED1-E5F0-F939F94D66BC}"/>
              </a:ext>
            </a:extLst>
          </p:cNvPr>
          <p:cNvSpPr txBox="1"/>
          <p:nvPr/>
        </p:nvSpPr>
        <p:spPr>
          <a:xfrm>
            <a:off x="1601837" y="1436017"/>
            <a:ext cx="2518638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</a:rPr>
              <a:t>Questions</a:t>
            </a:r>
          </a:p>
          <a:p>
            <a:endParaRPr kumimoji="1" lang="en-US" altLang="zh-CN" sz="32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/>
              <a:t>Rule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/>
              <a:t>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400" b="1" dirty="0"/>
              <a:t>reproducibility</a:t>
            </a:r>
            <a:endParaRPr kumimoji="1" lang="en-US" altLang="zh-CN" sz="2400" b="1" dirty="0"/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0C3FAF-AED9-0F79-397D-F9A02255759B}"/>
              </a:ext>
            </a:extLst>
          </p:cNvPr>
          <p:cNvSpPr txBox="1"/>
          <p:nvPr/>
        </p:nvSpPr>
        <p:spPr>
          <a:xfrm>
            <a:off x="5633357" y="1409374"/>
            <a:ext cx="495680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</a:rPr>
              <a:t>Improvements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</a:rPr>
              <a:t>&amp;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</a:rPr>
              <a:t>solution</a:t>
            </a:r>
          </a:p>
          <a:p>
            <a:endParaRPr kumimoji="1" lang="en-US" altLang="zh-CN" sz="3200" b="1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b="1" dirty="0"/>
              <a:t>Project rule template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/>
              <a:t>*</a:t>
            </a:r>
            <a:r>
              <a:rPr kumimoji="1" lang="en-US" altLang="zh-CN" sz="2400" b="1" dirty="0"/>
              <a:t>Multi-agent cooperation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b="1" dirty="0"/>
              <a:t>Prompt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b="1" dirty="0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7040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0AE0-C262-4A49-2357-074AD8B1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FCF6BBE-D157-0C28-55A8-86FBEF1AD3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CF6BBE-D157-0C28-55A8-86FBEF1AD3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905B9D0-0468-66EE-EEFD-D3C62E17D364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Conclusion</a:t>
            </a:r>
            <a:endParaRPr lang="en" altLang="zh-CN" sz="4000" dirty="0">
              <a:latin typeface="BMWTypeNext Latin Regular"/>
              <a:ea typeface="等线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7EFA0F-6394-C3E0-87BF-A5471446B1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A0E347-0CC4-A54F-D690-0D8BB9B0FB3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0067230-8A50-51D8-3237-52602DFD1B36}"/>
              </a:ext>
            </a:extLst>
          </p:cNvPr>
          <p:cNvSpPr txBox="1"/>
          <p:nvPr/>
        </p:nvSpPr>
        <p:spPr>
          <a:xfrm>
            <a:off x="1296888" y="1670538"/>
            <a:ext cx="9761005" cy="212763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zh-CN" b="1">
                <a:ea typeface="等线"/>
              </a:rPr>
              <a:t>Understand the concepts of agents and skills</a:t>
            </a:r>
            <a:endParaRPr lang="en" altLang="zh-CN">
              <a:ea typeface="等线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zh-CN" b="1">
                <a:ea typeface="等线"/>
              </a:rPr>
              <a:t>Learn to use Codex agent skills to assist engineering tasks</a:t>
            </a:r>
            <a:endParaRPr lang="en" altLang="zh-CN">
              <a:ea typeface="等线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zh-CN" b="1">
                <a:ea typeface="等线"/>
              </a:rPr>
              <a:t>Implement an automated previewer project and achieve the expected results</a:t>
            </a:r>
            <a:endParaRPr lang="en" altLang="zh-CN">
              <a:ea typeface="等线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zh-CN" b="1">
                <a:ea typeface="等线"/>
              </a:rPr>
              <a:t>Quantitatively evaluate the generated rules and conduct controlled variable experiments</a:t>
            </a:r>
            <a:endParaRPr lang="en" altLang="zh-CN">
              <a:ea typeface="等线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zh-CN" b="1">
                <a:ea typeface="等线"/>
              </a:rPr>
              <a:t>Produce a systematic report</a:t>
            </a:r>
            <a:endParaRPr lang="en" altLang="zh-CN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03718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CAD0-F1FE-C6A1-C506-D9F509A3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CFFEE94-AC9B-AD88-B914-8C4CC9003D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FFEE94-AC9B-AD88-B914-8C4CC9003D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2421BEA-764F-A280-9014-1F58B95DD214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" altLang="zh-CN" sz="4000" dirty="0"/>
              <a:t>Reflections</a:t>
            </a:r>
            <a:endParaRPr lang="en" altLang="zh-CN" sz="4000" dirty="0">
              <a:latin typeface="BMWTypeNext Latin Regular"/>
              <a:ea typeface="等线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BD5638C-9344-256F-D6E9-0AE92DBDA0F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AEF0F0-B23E-8B64-41DB-52AEA62E413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30A9CB4-58C1-DE47-3054-4ADC1F289CC8}"/>
              </a:ext>
            </a:extLst>
          </p:cNvPr>
          <p:cNvSpPr txBox="1"/>
          <p:nvPr/>
        </p:nvSpPr>
        <p:spPr>
          <a:xfrm>
            <a:off x="1314473" y="1670538"/>
            <a:ext cx="76185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dirty="0"/>
              <a:t>During this internship, my main takeaways are as follows:</a:t>
            </a:r>
          </a:p>
          <a:p>
            <a:endParaRPr lang="en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/>
              <a:t>The role of AI in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/>
              <a:t>Team collaboration and professional team culture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/>
              <a:t>A holistic view of projects and engineering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/>
              <a:t>Storytelling</a:t>
            </a:r>
          </a:p>
          <a:p>
            <a:endParaRPr lang="e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22897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D7EB-9AA6-1A8A-75A1-D4F019A1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99627C5-CFF7-E343-AB09-FBD78CC152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9627C5-CFF7-E343-AB09-FBD78CC15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C5B4167-9283-1699-2AF3-82C2322691E7}"/>
              </a:ext>
            </a:extLst>
          </p:cNvPr>
          <p:cNvSpPr txBox="1"/>
          <p:nvPr/>
        </p:nvSpPr>
        <p:spPr>
          <a:xfrm>
            <a:off x="1184318" y="428624"/>
            <a:ext cx="1081541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4000" u="none" strike="noStrike" dirty="0">
                <a:solidFill>
                  <a:srgbClr val="000000"/>
                </a:solidFill>
                <a:effectLst/>
                <a:latin typeface="BMWTypeNext Latin Regular"/>
                <a:ea typeface="等线"/>
              </a:rPr>
              <a:t>Reference</a:t>
            </a:r>
            <a:endParaRPr lang="en" altLang="zh-CN" sz="4000" dirty="0">
              <a:latin typeface="BMWTypeNext Latin Regular"/>
              <a:ea typeface="等线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F04C88-718D-D76D-A1EE-CD539978C1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8591" y="1221644"/>
            <a:ext cx="1961500" cy="3754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F7E366-90D3-C6C5-8E14-F3E2516FA40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428" y="6049144"/>
            <a:ext cx="885890" cy="4044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A6DE2BC-8FA6-C542-B436-C0F4D4AB5822}"/>
              </a:ext>
            </a:extLst>
          </p:cNvPr>
          <p:cNvSpPr txBox="1"/>
          <p:nvPr/>
        </p:nvSpPr>
        <p:spPr>
          <a:xfrm>
            <a:off x="1184317" y="1242985"/>
            <a:ext cx="10294920" cy="4662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000">
                <a:ea typeface="等线"/>
              </a:rPr>
              <a:t>[1] Distilling Rule‑based Knowledge into Large Language Models, Zhang et al., 2023, </a:t>
            </a:r>
            <a:r>
              <a:rPr lang="en" altLang="zh-CN" sz="2000">
                <a:ea typeface="等线"/>
                <a:hlinkClick r:id="rId8"/>
              </a:rPr>
              <a:t>https://arxiv.org/abs/2311.08883</a:t>
            </a:r>
            <a:br>
              <a:rPr lang="en" altLang="zh-CN" sz="2000" dirty="0"/>
            </a:br>
            <a:r>
              <a:rPr lang="en" altLang="zh-CN" sz="2000">
                <a:ea typeface="等线"/>
              </a:rPr>
              <a:t>[2] Patterns Over Principles: The Fragility of Inductive Reasoning in LLMs under Noisy Observations, Li et al., 2025, </a:t>
            </a:r>
            <a:r>
              <a:rPr lang="en" altLang="zh-CN" sz="2000">
                <a:ea typeface="等线"/>
                <a:hlinkClick r:id="rId9"/>
              </a:rPr>
              <a:t>https://arxiv.org/abs/2502.16169</a:t>
            </a:r>
            <a:br>
              <a:rPr lang="en" altLang="zh-CN" sz="2000" dirty="0"/>
            </a:br>
            <a:r>
              <a:rPr lang="en" altLang="zh-CN" sz="2000">
                <a:ea typeface="等线"/>
              </a:rPr>
              <a:t>[3] </a:t>
            </a:r>
            <a:r>
              <a:rPr lang="en" altLang="zh-CN" sz="2000" err="1">
                <a:ea typeface="等线"/>
              </a:rPr>
              <a:t>MoRE</a:t>
            </a:r>
            <a:r>
              <a:rPr lang="en" altLang="zh-CN" sz="2000">
                <a:ea typeface="等线"/>
              </a:rPr>
              <a:t>‑LLM: Mixture of Rule Experts Guided by a Large Language Model, Wang et al., 2025, </a:t>
            </a:r>
            <a:r>
              <a:rPr lang="en" altLang="zh-CN" sz="2000">
                <a:ea typeface="等线"/>
                <a:hlinkClick r:id="rId10"/>
              </a:rPr>
              <a:t>https://arxiv.org/abs/2503.22731</a:t>
            </a:r>
            <a:br>
              <a:rPr lang="en" altLang="zh-CN" sz="2000" dirty="0"/>
            </a:br>
            <a:r>
              <a:rPr lang="en" altLang="zh-CN" sz="2000">
                <a:ea typeface="等线"/>
              </a:rPr>
              <a:t>[4] IDEA: Enhancing the Rule Learning Ability of Large Language Model Agent through Induction, Deduction, and Abduction, Chen et al., 2025, </a:t>
            </a:r>
            <a:r>
              <a:rPr lang="en" altLang="zh-CN" sz="2000">
                <a:ea typeface="等线"/>
                <a:hlinkClick r:id="rId11"/>
              </a:rPr>
              <a:t>https://aclanthology.org/2025.findings-acl.698/</a:t>
            </a:r>
            <a:endParaRPr lang="en" altLang="zh-CN" sz="2000">
              <a:ea typeface="等线"/>
            </a:endParaRPr>
          </a:p>
          <a:p>
            <a:pPr>
              <a:lnSpc>
                <a:spcPct val="150000"/>
              </a:lnSpc>
            </a:pP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3560248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1366DC5AAD704FBA0AB230C7755573" ma:contentTypeVersion="18" ma:contentTypeDescription="Create a new document." ma:contentTypeScope="" ma:versionID="a486eb4985b21cc8d26cf10e4f588f53">
  <xsd:schema xmlns:xsd="http://www.w3.org/2001/XMLSchema" xmlns:xs="http://www.w3.org/2001/XMLSchema" xmlns:p="http://schemas.microsoft.com/office/2006/metadata/properties" xmlns:ns2="a51fde1c-cb3a-4a02-b39f-aaf5623fa313" xmlns:ns3="6af9b5e9-1070-4af5-ba9a-0d1021b96f55" targetNamespace="http://schemas.microsoft.com/office/2006/metadata/properties" ma:root="true" ma:fieldsID="37fcdd4a1b76ccb3b1e71847da385a51" ns2:_="" ns3:_="">
    <xsd:import namespace="a51fde1c-cb3a-4a02-b39f-aaf5623fa313"/>
    <xsd:import namespace="6af9b5e9-1070-4af5-ba9a-0d1021b96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fde1c-cb3a-4a02-b39f-aaf5623fa3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5a294ba-cfef-44c2-b9ca-c5402229d2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b5e9-1070-4af5-ba9a-0d1021b96f5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3bcf133-fe4c-4b50-8edf-c12ab5cbf108}" ma:internalName="TaxCatchAll" ma:showField="CatchAllData" ma:web="6af9b5e9-1070-4af5-ba9a-0d1021b96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f9b5e9-1070-4af5-ba9a-0d1021b96f55" xsi:nil="true"/>
    <lcf76f155ced4ddcb4097134ff3c332f xmlns="a51fde1c-cb3a-4a02-b39f-aaf5623fa3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B8A80F7-5223-466E-930F-C50BDA9DCE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FFFD86-6C44-4425-9BB8-CEDE70591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1fde1c-cb3a-4a02-b39f-aaf5623fa313"/>
    <ds:schemaRef ds:uri="6af9b5e9-1070-4af5-ba9a-0d1021b96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66C102-CC8E-4849-91C4-3EDEABBA58DF}">
  <ds:schemaRefs>
    <ds:schemaRef ds:uri="http://schemas.openxmlformats.org/package/2006/metadata/core-properties"/>
    <ds:schemaRef ds:uri="6af9b5e9-1070-4af5-ba9a-0d1021b96f55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a51fde1c-cb3a-4a02-b39f-aaf5623fa31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4292</TotalTime>
  <Words>2359</Words>
  <Application>Microsoft Macintosh PowerPoint</Application>
  <PresentationFormat>宽屏</PresentationFormat>
  <Paragraphs>139</Paragraphs>
  <Slides>15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BMWTypeNext Latin Regular</vt:lpstr>
      <vt:lpstr>Arial</vt:lpstr>
      <vt:lpstr>Wingdings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Lychee Li</dc:creator>
  <cp:keywords/>
  <dc:description/>
  <cp:lastModifiedBy>Marina Huang</cp:lastModifiedBy>
  <cp:revision>22</cp:revision>
  <dcterms:created xsi:type="dcterms:W3CDTF">2023-08-08T01:26:28Z</dcterms:created>
  <dcterms:modified xsi:type="dcterms:W3CDTF">2026-02-06T02:14:27Z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0x010100961366DC5AAD704FBA0AB230C7755573</vt:lpwstr>
  </property>
  <property fmtid="{D5CDD505-2E9C-101B-9397-08002B2CF9AE}" pid="3" name="MediaServiceImageTags">
    <vt:lpwstr/>
  </property>
  <property fmtid="{D5CDD505-2E9C-101B-9397-08002B2CF9AE}" pid="4" name="MSIP_Label_cb318d54-0dbd-4356-b6bd-9712a5ca4f72_Enabled">
    <vt:lpwstr>true</vt:lpwstr>
  </property>
  <property fmtid="{D5CDD505-2E9C-101B-9397-08002B2CF9AE}" pid="5" name="MSIP_Label_cb318d54-0dbd-4356-b6bd-9712a5ca4f72_SetDate">
    <vt:lpwstr>2024-12-19T02:20:03Z</vt:lpwstr>
  </property>
  <property fmtid="{D5CDD505-2E9C-101B-9397-08002B2CF9AE}" pid="6" name="MSIP_Label_cb318d54-0dbd-4356-b6bd-9712a5ca4f72_Method">
    <vt:lpwstr>Standard</vt:lpwstr>
  </property>
  <property fmtid="{D5CDD505-2E9C-101B-9397-08002B2CF9AE}" pid="7" name="MSIP_Label_cb318d54-0dbd-4356-b6bd-9712a5ca4f72_Name">
    <vt:lpwstr>General</vt:lpwstr>
  </property>
  <property fmtid="{D5CDD505-2E9C-101B-9397-08002B2CF9AE}" pid="8" name="MSIP_Label_cb318d54-0dbd-4356-b6bd-9712a5ca4f72_SiteId">
    <vt:lpwstr>2539f89b-4e78-4df7-9a3e-b3c0a063460b</vt:lpwstr>
  </property>
  <property fmtid="{D5CDD505-2E9C-101B-9397-08002B2CF9AE}" pid="9" name="MSIP_Label_cb318d54-0dbd-4356-b6bd-9712a5ca4f72_ActionId">
    <vt:lpwstr>a29018b3-d642-407e-9efd-cbc63ffc814f</vt:lpwstr>
  </property>
  <property fmtid="{D5CDD505-2E9C-101B-9397-08002B2CF9AE}" pid="10" name="MSIP_Label_cb318d54-0dbd-4356-b6bd-9712a5ca4f72_ContentBits">
    <vt:lpwstr>0</vt:lpwstr>
  </property>
</Properties>
</file>